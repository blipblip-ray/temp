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FA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78C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0E8C9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E9E4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43A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Req.</c:v>
                </c:pt>
                <c:pt idx="1">
                  <c:v>Design</c:v>
                </c:pt>
                <c:pt idx="2">
                  <c:v>Dev</c:v>
                </c:pt>
                <c:pt idx="3">
                  <c:v>Test</c:v>
                </c:pt>
                <c:pt idx="4">
                  <c:v>Deploy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image" Target="../media/image-1-10.png"/><Relationship Id="rId12" Type="http://schemas.openxmlformats.org/officeDocument/2006/relationships/image" Target="../media/image-1-11.png"/><Relationship Id="rId13" Type="http://schemas.openxmlformats.org/officeDocument/2006/relationships/image" Target="../media/image-1-12.png"/><Relationship Id="rId14" Type="http://schemas.openxmlformats.org/officeDocument/2006/relationships/image" Target="../media/image-1-13.png"/><Relationship Id="rId15" Type="http://schemas.openxmlformats.org/officeDocument/2006/relationships/image" Target="../media/image-1-14.png"/><Relationship Id="rId16" Type="http://schemas.openxmlformats.org/officeDocument/2006/relationships/image" Target="../media/image-1-15.png"/><Relationship Id="rId17" Type="http://schemas.openxmlformats.org/officeDocument/2006/relationships/image" Target="../media/image-1-16.png"/><Relationship Id="rId18" Type="http://schemas.openxmlformats.org/officeDocument/2006/relationships/image" Target="../media/image-1-17.png"/><Relationship Id="rId19" Type="http://schemas.openxmlformats.org/officeDocument/2006/relationships/image" Target="../media/image-1-18.png"/><Relationship Id="rId20" Type="http://schemas.openxmlformats.org/officeDocument/2006/relationships/image" Target="../media/image-1-19.png"/><Relationship Id="rId21" Type="http://schemas.openxmlformats.org/officeDocument/2006/relationships/image" Target="../media/image-1-20.png"/><Relationship Id="rId22" Type="http://schemas.openxmlformats.org/officeDocument/2006/relationships/image" Target="../media/image-1-21.png"/><Relationship Id="rId23" Type="http://schemas.openxmlformats.org/officeDocument/2006/relationships/image" Target="../media/image-1-22.png"/><Relationship Id="rId24" Type="http://schemas.openxmlformats.org/officeDocument/2006/relationships/image" Target="../media/image-1-23.png"/><Relationship Id="rId25" Type="http://schemas.openxmlformats.org/officeDocument/2006/relationships/image" Target="../media/image-1-24.png"/><Relationship Id="rId26" Type="http://schemas.openxmlformats.org/officeDocument/2006/relationships/image" Target="../media/image-1-25.png"/><Relationship Id="rId27" Type="http://schemas.openxmlformats.org/officeDocument/2006/relationships/image" Target="../media/image-1-26.png"/><Relationship Id="rId28" Type="http://schemas.openxmlformats.org/officeDocument/2006/relationships/image" Target="../media/image-1-27.png"/><Relationship Id="rId29" Type="http://schemas.openxmlformats.org/officeDocument/2006/relationships/image" Target="../media/image-1-28.png"/><Relationship Id="rId30" Type="http://schemas.openxmlformats.org/officeDocument/2006/relationships/image" Target="../media/image-1-29.png"/><Relationship Id="rId31" Type="http://schemas.openxmlformats.org/officeDocument/2006/relationships/image" Target="../media/image-1-30.png"/><Relationship Id="rId32" Type="http://schemas.openxmlformats.org/officeDocument/2006/relationships/image" Target="../media/image-1-31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226414" y="173736"/>
            <a:ext cx="340514" cy="196596"/>
          </a:xfrm>
          <a:prstGeom prst="line">
            <a:avLst/>
          </a:prstGeom>
          <a:noFill/>
          <a:ln w="28575">
            <a:solidFill>
              <a:srgbClr val="0F1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6414" y="370332"/>
            <a:ext cx="0" cy="393192"/>
          </a:xfrm>
          <a:prstGeom prst="line">
            <a:avLst/>
          </a:prstGeom>
          <a:noFill/>
          <a:ln w="28575">
            <a:solidFill>
              <a:srgbClr val="0F1E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6414" y="763524"/>
            <a:ext cx="340514" cy="196596"/>
          </a:xfrm>
          <a:prstGeom prst="line">
            <a:avLst/>
          </a:prstGeom>
          <a:noFill/>
          <a:ln w="28575">
            <a:solidFill>
              <a:srgbClr val="0F1E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566928" y="763524"/>
            <a:ext cx="340514" cy="196596"/>
          </a:xfrm>
          <a:prstGeom prst="line">
            <a:avLst/>
          </a:prstGeom>
          <a:noFill/>
          <a:ln w="28575">
            <a:solidFill>
              <a:srgbClr val="0F1E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07442" y="370332"/>
            <a:ext cx="0" cy="393192"/>
          </a:xfrm>
          <a:prstGeom prst="line">
            <a:avLst/>
          </a:prstGeom>
          <a:noFill/>
          <a:ln w="28575">
            <a:solidFill>
              <a:srgbClr val="0F1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3736"/>
            <a:ext cx="340514" cy="196596"/>
          </a:xfrm>
          <a:prstGeom prst="line">
            <a:avLst/>
          </a:prstGeom>
          <a:noFill/>
          <a:ln w="28575">
            <a:solidFill>
              <a:srgbClr val="0F1E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9745" y="126553"/>
            <a:ext cx="94366" cy="94366"/>
          </a:xfrm>
          <a:prstGeom prst="ellipse">
            <a:avLst/>
          </a:prstGeom>
          <a:solidFill>
            <a:srgbClr val="0F1E5B"/>
          </a:solidFill>
          <a:ln/>
        </p:spPr>
      </p:sp>
      <p:sp>
        <p:nvSpPr>
          <p:cNvPr id="9" name="Shape 7"/>
          <p:cNvSpPr/>
          <p:nvPr/>
        </p:nvSpPr>
        <p:spPr>
          <a:xfrm>
            <a:off x="179231" y="323149"/>
            <a:ext cx="94366" cy="94366"/>
          </a:xfrm>
          <a:prstGeom prst="ellipse">
            <a:avLst/>
          </a:prstGeom>
          <a:solidFill>
            <a:srgbClr val="0F1E5B"/>
          </a:solidFill>
          <a:ln/>
        </p:spPr>
      </p:sp>
      <p:sp>
        <p:nvSpPr>
          <p:cNvPr id="10" name="Shape 8"/>
          <p:cNvSpPr/>
          <p:nvPr/>
        </p:nvSpPr>
        <p:spPr>
          <a:xfrm>
            <a:off x="179231" y="716341"/>
            <a:ext cx="94366" cy="94366"/>
          </a:xfrm>
          <a:prstGeom prst="ellipse">
            <a:avLst/>
          </a:prstGeom>
          <a:solidFill>
            <a:srgbClr val="0F1E5B"/>
          </a:solidFill>
          <a:ln/>
        </p:spPr>
      </p:sp>
      <p:sp>
        <p:nvSpPr>
          <p:cNvPr id="11" name="Shape 9"/>
          <p:cNvSpPr/>
          <p:nvPr/>
        </p:nvSpPr>
        <p:spPr>
          <a:xfrm>
            <a:off x="519745" y="912937"/>
            <a:ext cx="94366" cy="94366"/>
          </a:xfrm>
          <a:prstGeom prst="ellipse">
            <a:avLst/>
          </a:prstGeom>
          <a:solidFill>
            <a:srgbClr val="0F1E5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0259" y="716341"/>
            <a:ext cx="94366" cy="94366"/>
          </a:xfrm>
          <a:prstGeom prst="ellipse">
            <a:avLst/>
          </a:prstGeom>
          <a:solidFill>
            <a:srgbClr val="0F1E5B"/>
          </a:solidFill>
          <a:ln/>
        </p:spPr>
      </p:sp>
      <p:sp>
        <p:nvSpPr>
          <p:cNvPr id="13" name="Shape 11"/>
          <p:cNvSpPr/>
          <p:nvPr/>
        </p:nvSpPr>
        <p:spPr>
          <a:xfrm>
            <a:off x="860259" y="323149"/>
            <a:ext cx="94366" cy="94366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60" y="395204"/>
            <a:ext cx="361737" cy="36173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20116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MDM – AI in SDLC  |  Workshop Update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097280" y="786384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AI-powered transformation across the SDLC for faster delivery and greater impact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417320" y="923544"/>
            <a:ext cx="1600200" cy="0"/>
          </a:xfrm>
          <a:prstGeom prst="line">
            <a:avLst/>
          </a:prstGeom>
          <a:noFill/>
          <a:ln w="12700">
            <a:solidFill>
              <a:srgbClr val="9FB0CF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3035808" y="896112"/>
            <a:ext cx="54864" cy="54864"/>
          </a:xfrm>
          <a:prstGeom prst="ellipse">
            <a:avLst/>
          </a:prstGeom>
          <a:solidFill>
            <a:srgbClr val="2E5FAE"/>
          </a:solidFill>
          <a:ln/>
        </p:spPr>
      </p:sp>
      <p:sp>
        <p:nvSpPr>
          <p:cNvPr id="19" name="Shape 16"/>
          <p:cNvSpPr/>
          <p:nvPr/>
        </p:nvSpPr>
        <p:spPr>
          <a:xfrm>
            <a:off x="8732520" y="923544"/>
            <a:ext cx="1600200" cy="0"/>
          </a:xfrm>
          <a:prstGeom prst="line">
            <a:avLst/>
          </a:prstGeom>
          <a:noFill/>
          <a:ln w="12700">
            <a:solidFill>
              <a:srgbClr val="9FB0CF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8650224" y="896112"/>
            <a:ext cx="54864" cy="54864"/>
          </a:xfrm>
          <a:prstGeom prst="ellipse">
            <a:avLst/>
          </a:prstGeom>
          <a:solidFill>
            <a:srgbClr val="2E5FAE"/>
          </a:solidFill>
          <a:ln/>
        </p:spPr>
      </p:sp>
      <p:graphicFrame>
        <p:nvGraphicFramePr>
          <p:cNvPr id="21" name="Chart 0" descr=""/>
          <p:cNvGraphicFramePr/>
          <p:nvPr/>
        </p:nvGraphicFramePr>
        <p:xfrm>
          <a:off x="10561320" y="36576"/>
          <a:ext cx="11887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10840669" y="315925"/>
            <a:ext cx="630022" cy="6300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10840669" y="315925"/>
            <a:ext cx="630022" cy="63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7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121079" y="244997"/>
            <a:ext cx="530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11263582" y="683576"/>
            <a:ext cx="530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10890504" y="954634"/>
            <a:ext cx="530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0517426" y="683576"/>
            <a:ext cx="530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10659929" y="244997"/>
            <a:ext cx="530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274320" y="1243584"/>
            <a:ext cx="690372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360920" y="1243584"/>
            <a:ext cx="452628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274320" y="1243584"/>
            <a:ext cx="690372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44168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12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5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10512"/>
            <a:ext cx="210312" cy="21031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4944" y="1746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 AI in SDLC demo aligned to plan (Requirements → Deployment)</a:t>
            </a:r>
            <a:endParaRPr lang="en-US" sz="9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286000"/>
            <a:ext cx="210312" cy="2103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4944" y="22219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Showcased Rovo &amp; GitHub Copilot agents across BRD, LLD, Dev, Test, and Deployment</a:t>
            </a:r>
            <a:endParaRPr lang="en-US" sz="9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761488"/>
            <a:ext cx="210312" cy="2103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4944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BRD generation from meeting transcripts (</a:t>
            </a:r>
            <a:pPr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Order Cycle</a:t>
            </a:r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case)</a:t>
            </a:r>
            <a:endParaRPr lang="en-US" sz="9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236976"/>
            <a:ext cx="210312" cy="21031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94944" y="31729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strong engagement from Product (Roopali Revenkar &amp; PO Team) and Engineering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3730752" y="1773936"/>
            <a:ext cx="3291840" cy="210312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3730752" y="18288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in SDLC Demo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3895344" y="2157984"/>
            <a:ext cx="365760" cy="365760"/>
          </a:xfrm>
          <a:prstGeom prst="ellipse">
            <a:avLst/>
          </a:prstGeom>
          <a:solidFill>
            <a:srgbClr val="2E5FAE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5811" y="2238451"/>
            <a:ext cx="204826" cy="20482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721608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620" dirty="0"/>
          </a:p>
        </p:txBody>
      </p:sp>
      <p:sp>
        <p:nvSpPr>
          <p:cNvPr id="47" name="Shape 37"/>
          <p:cNvSpPr/>
          <p:nvPr/>
        </p:nvSpPr>
        <p:spPr>
          <a:xfrm>
            <a:off x="4320540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48" name="Shape 38"/>
          <p:cNvSpPr/>
          <p:nvPr/>
        </p:nvSpPr>
        <p:spPr>
          <a:xfrm>
            <a:off x="4544568" y="2157984"/>
            <a:ext cx="365760" cy="365760"/>
          </a:xfrm>
          <a:prstGeom prst="ellipse">
            <a:avLst/>
          </a:prstGeom>
          <a:solidFill>
            <a:srgbClr val="0E8C99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5035" y="2238451"/>
            <a:ext cx="204826" cy="204826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4370832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620" dirty="0"/>
          </a:p>
        </p:txBody>
      </p:sp>
      <p:sp>
        <p:nvSpPr>
          <p:cNvPr id="51" name="Shape 40"/>
          <p:cNvSpPr/>
          <p:nvPr/>
        </p:nvSpPr>
        <p:spPr>
          <a:xfrm>
            <a:off x="4969764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52" name="Shape 41"/>
          <p:cNvSpPr/>
          <p:nvPr/>
        </p:nvSpPr>
        <p:spPr>
          <a:xfrm>
            <a:off x="5193792" y="2157984"/>
            <a:ext cx="365760" cy="365760"/>
          </a:xfrm>
          <a:prstGeom prst="ellipse">
            <a:avLst/>
          </a:prstGeom>
          <a:solidFill>
            <a:srgbClr val="2E5FAE"/>
          </a:solidFill>
          <a:ln/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4259" y="2238451"/>
            <a:ext cx="204826" cy="204826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020056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620" dirty="0"/>
          </a:p>
        </p:txBody>
      </p:sp>
      <p:sp>
        <p:nvSpPr>
          <p:cNvPr id="55" name="Shape 43"/>
          <p:cNvSpPr/>
          <p:nvPr/>
        </p:nvSpPr>
        <p:spPr>
          <a:xfrm>
            <a:off x="5618988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56" name="Shape 44"/>
          <p:cNvSpPr/>
          <p:nvPr/>
        </p:nvSpPr>
        <p:spPr>
          <a:xfrm>
            <a:off x="5843016" y="2157984"/>
            <a:ext cx="365760" cy="365760"/>
          </a:xfrm>
          <a:prstGeom prst="ellipse">
            <a:avLst/>
          </a:prstGeom>
          <a:solidFill>
            <a:srgbClr val="5B43A8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3483" y="2238451"/>
            <a:ext cx="204826" cy="204826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669280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620" dirty="0"/>
          </a:p>
        </p:txBody>
      </p:sp>
      <p:sp>
        <p:nvSpPr>
          <p:cNvPr id="59" name="Shape 46"/>
          <p:cNvSpPr/>
          <p:nvPr/>
        </p:nvSpPr>
        <p:spPr>
          <a:xfrm>
            <a:off x="6268212" y="2286000"/>
            <a:ext cx="182880" cy="109728"/>
          </a:xfrm>
          <a:prstGeom prst="rightArrow">
            <a:avLst/>
          </a:prstGeom>
          <a:solidFill>
            <a:srgbClr val="9AA3B5"/>
          </a:solidFill>
          <a:ln/>
        </p:spPr>
      </p:sp>
      <p:sp>
        <p:nvSpPr>
          <p:cNvPr id="60" name="Shape 47"/>
          <p:cNvSpPr/>
          <p:nvPr/>
        </p:nvSpPr>
        <p:spPr>
          <a:xfrm>
            <a:off x="6492240" y="2157984"/>
            <a:ext cx="365760" cy="365760"/>
          </a:xfrm>
          <a:prstGeom prst="ellipse">
            <a:avLst/>
          </a:prstGeom>
          <a:solidFill>
            <a:srgbClr val="2E9E4B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707" y="2238451"/>
            <a:ext cx="204826" cy="204826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6318504" y="25420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620" dirty="0"/>
          </a:p>
        </p:txBody>
      </p:sp>
      <p:sp>
        <p:nvSpPr>
          <p:cNvPr id="63" name="Shape 49"/>
          <p:cNvSpPr/>
          <p:nvPr/>
        </p:nvSpPr>
        <p:spPr>
          <a:xfrm>
            <a:off x="3913632" y="2926080"/>
            <a:ext cx="29260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64" name="Text 50"/>
          <p:cNvSpPr/>
          <p:nvPr/>
        </p:nvSpPr>
        <p:spPr>
          <a:xfrm>
            <a:off x="3730752" y="2962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Action</a:t>
            </a:r>
            <a:endParaRPr lang="en-US" sz="950" dirty="0"/>
          </a:p>
        </p:txBody>
      </p:sp>
      <p:sp>
        <p:nvSpPr>
          <p:cNvPr id="65" name="Shape 51"/>
          <p:cNvSpPr/>
          <p:nvPr/>
        </p:nvSpPr>
        <p:spPr>
          <a:xfrm rot="5400000">
            <a:off x="4114800" y="3218688"/>
            <a:ext cx="274320" cy="274320"/>
          </a:xfrm>
          <a:prstGeom prst="hexagon">
            <a:avLst/>
          </a:prstGeom>
          <a:solidFill>
            <a:srgbClr val="2E5FAE"/>
          </a:solidFill>
          <a:ln/>
        </p:spPr>
      </p:sp>
      <p:sp>
        <p:nvSpPr>
          <p:cNvPr id="66" name="Shape 52"/>
          <p:cNvSpPr/>
          <p:nvPr/>
        </p:nvSpPr>
        <p:spPr>
          <a:xfrm rot="5400000">
            <a:off x="4175150" y="3279038"/>
            <a:ext cx="153619" cy="153619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67" name="Text 53"/>
          <p:cNvSpPr/>
          <p:nvPr/>
        </p:nvSpPr>
        <p:spPr>
          <a:xfrm>
            <a:off x="4443984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000" dirty="0"/>
          </a:p>
        </p:txBody>
      </p:sp>
      <p:sp>
        <p:nvSpPr>
          <p:cNvPr id="68" name="Text 54"/>
          <p:cNvSpPr/>
          <p:nvPr/>
        </p:nvSpPr>
        <p:spPr>
          <a:xfrm>
            <a:off x="3877056" y="35112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Knowledge Agent</a:t>
            </a:r>
            <a:endParaRPr lang="en-US" sz="6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3209544"/>
            <a:ext cx="292608" cy="292608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5833872" y="3218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71" name="Text 56"/>
          <p:cNvSpPr/>
          <p:nvPr/>
        </p:nvSpPr>
        <p:spPr>
          <a:xfrm>
            <a:off x="5413248" y="3511296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 Agent</a:t>
            </a:r>
            <a:endParaRPr lang="en-US" sz="650" dirty="0"/>
          </a:p>
        </p:txBody>
      </p:sp>
      <p:sp>
        <p:nvSpPr>
          <p:cNvPr id="72" name="Shape 57"/>
          <p:cNvSpPr/>
          <p:nvPr/>
        </p:nvSpPr>
        <p:spPr>
          <a:xfrm>
            <a:off x="7360920" y="1243584"/>
            <a:ext cx="4526280" cy="457200"/>
          </a:xfrm>
          <a:prstGeom prst="roundRect">
            <a:avLst>
              <a:gd name="adj" fmla="val 14000"/>
            </a:avLst>
          </a:prstGeom>
          <a:solidFill>
            <a:srgbClr val="0F1E5B"/>
          </a:solidFill>
          <a:ln/>
        </p:spPr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088" y="1353312"/>
            <a:ext cx="246888" cy="246888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7927848" y="1243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500" dirty="0"/>
          </a:p>
        </p:txBody>
      </p:sp>
      <p:sp>
        <p:nvSpPr>
          <p:cNvPr id="75" name="Shape 59"/>
          <p:cNvSpPr/>
          <p:nvPr/>
        </p:nvSpPr>
        <p:spPr>
          <a:xfrm>
            <a:off x="7507224" y="1810512"/>
            <a:ext cx="274320" cy="274320"/>
          </a:xfrm>
          <a:prstGeom prst="ellipse">
            <a:avLst/>
          </a:prstGeom>
          <a:solidFill>
            <a:srgbClr val="E2F1F2"/>
          </a:solidFill>
          <a:ln/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7574" y="1870862"/>
            <a:ext cx="153619" cy="153619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7872984" y="17373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practical AI adoption across SDLC lifecycle</a:t>
            </a:r>
            <a:endParaRPr lang="en-US" sz="860" dirty="0"/>
          </a:p>
        </p:txBody>
      </p:sp>
      <p:sp>
        <p:nvSpPr>
          <p:cNvPr id="78" name="Text 61"/>
          <p:cNvSpPr/>
          <p:nvPr/>
        </p:nvSpPr>
        <p:spPr>
          <a:xfrm>
            <a:off x="7872984" y="192024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real-world value and feasibility.</a:t>
            </a:r>
            <a:endParaRPr lang="en-US" sz="740" dirty="0"/>
          </a:p>
        </p:txBody>
      </p:sp>
      <p:sp>
        <p:nvSpPr>
          <p:cNvPr id="79" name="Shape 62"/>
          <p:cNvSpPr/>
          <p:nvPr/>
        </p:nvSpPr>
        <p:spPr>
          <a:xfrm>
            <a:off x="7525512" y="2139696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80" name="Shape 63"/>
          <p:cNvSpPr/>
          <p:nvPr/>
        </p:nvSpPr>
        <p:spPr>
          <a:xfrm>
            <a:off x="7507224" y="2194560"/>
            <a:ext cx="274320" cy="274320"/>
          </a:xfrm>
          <a:prstGeom prst="ellipse">
            <a:avLst/>
          </a:prstGeom>
          <a:solidFill>
            <a:srgbClr val="E5F4E7"/>
          </a:solidFill>
          <a:ln/>
        </p:spPr>
      </p:sp>
      <p:pic>
        <p:nvPicPr>
          <p:cNvPr id="81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67574" y="2254910"/>
            <a:ext cx="153619" cy="153619"/>
          </a:xfrm>
          <a:prstGeom prst="rect">
            <a:avLst/>
          </a:prstGeom>
        </p:spPr>
      </p:pic>
      <p:sp>
        <p:nvSpPr>
          <p:cNvPr id="82" name="Text 64"/>
          <p:cNvSpPr/>
          <p:nvPr/>
        </p:nvSpPr>
        <p:spPr>
          <a:xfrm>
            <a:off x="7872984" y="212140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requirements-to-deployment cycle via automation</a:t>
            </a:r>
            <a:endParaRPr lang="en-US" sz="860" dirty="0"/>
          </a:p>
        </p:txBody>
      </p:sp>
      <p:sp>
        <p:nvSpPr>
          <p:cNvPr id="83" name="Text 65"/>
          <p:cNvSpPr/>
          <p:nvPr/>
        </p:nvSpPr>
        <p:spPr>
          <a:xfrm>
            <a:off x="7872984" y="23042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cycle time.</a:t>
            </a:r>
            <a:endParaRPr lang="en-US" sz="740" dirty="0"/>
          </a:p>
        </p:txBody>
      </p:sp>
      <p:sp>
        <p:nvSpPr>
          <p:cNvPr id="84" name="Shape 66"/>
          <p:cNvSpPr/>
          <p:nvPr/>
        </p:nvSpPr>
        <p:spPr>
          <a:xfrm>
            <a:off x="7525512" y="2523744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85" name="Shape 67"/>
          <p:cNvSpPr/>
          <p:nvPr/>
        </p:nvSpPr>
        <p:spPr>
          <a:xfrm>
            <a:off x="7507224" y="2578608"/>
            <a:ext cx="274320" cy="27432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86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7574" y="2638958"/>
            <a:ext cx="153619" cy="153619"/>
          </a:xfrm>
          <a:prstGeom prst="rect">
            <a:avLst/>
          </a:prstGeom>
        </p:spPr>
      </p:pic>
      <p:sp>
        <p:nvSpPr>
          <p:cNvPr id="87" name="Text 68"/>
          <p:cNvSpPr/>
          <p:nvPr/>
        </p:nvSpPr>
        <p:spPr>
          <a:xfrm>
            <a:off x="7872984" y="25054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confidence for scaled adoption across Supply Chain domains</a:t>
            </a:r>
            <a:endParaRPr lang="en-US" sz="860" dirty="0"/>
          </a:p>
        </p:txBody>
      </p:sp>
      <p:sp>
        <p:nvSpPr>
          <p:cNvPr id="88" name="Text 69"/>
          <p:cNvSpPr/>
          <p:nvPr/>
        </p:nvSpPr>
        <p:spPr>
          <a:xfrm>
            <a:off x="7872984" y="268833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teams to adopt AI with trust and at scale.</a:t>
            </a:r>
            <a:endParaRPr lang="en-US" sz="740" dirty="0"/>
          </a:p>
        </p:txBody>
      </p:sp>
      <p:sp>
        <p:nvSpPr>
          <p:cNvPr id="89" name="Shape 70"/>
          <p:cNvSpPr/>
          <p:nvPr/>
        </p:nvSpPr>
        <p:spPr>
          <a:xfrm>
            <a:off x="7525512" y="2907792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90" name="Shape 71"/>
          <p:cNvSpPr/>
          <p:nvPr/>
        </p:nvSpPr>
        <p:spPr>
          <a:xfrm>
            <a:off x="7507224" y="2962656"/>
            <a:ext cx="274320" cy="27432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91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7574" y="3023006"/>
            <a:ext cx="153619" cy="153619"/>
          </a:xfrm>
          <a:prstGeom prst="rect">
            <a:avLst/>
          </a:prstGeom>
        </p:spPr>
      </p:pic>
      <p:sp>
        <p:nvSpPr>
          <p:cNvPr id="92" name="Text 72"/>
          <p:cNvSpPr/>
          <p:nvPr/>
        </p:nvSpPr>
        <p:spPr>
          <a:xfrm>
            <a:off x="7872984" y="28895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(30%)</a:t>
            </a:r>
            <a:endParaRPr lang="en-US" sz="860" dirty="0"/>
          </a:p>
        </p:txBody>
      </p:sp>
      <p:sp>
        <p:nvSpPr>
          <p:cNvPr id="93" name="Text 73"/>
          <p:cNvSpPr/>
          <p:nvPr/>
        </p:nvSpPr>
        <p:spPr>
          <a:xfrm>
            <a:off x="7872984" y="307238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automation reduces cycle time by up to 30%.</a:t>
            </a:r>
            <a:endParaRPr lang="en-US" sz="740" dirty="0"/>
          </a:p>
        </p:txBody>
      </p:sp>
      <p:sp>
        <p:nvSpPr>
          <p:cNvPr id="94" name="Shape 74"/>
          <p:cNvSpPr/>
          <p:nvPr/>
        </p:nvSpPr>
        <p:spPr>
          <a:xfrm>
            <a:off x="7525512" y="3291840"/>
            <a:ext cx="4197096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dash"/>
          </a:ln>
        </p:spPr>
      </p:sp>
      <p:sp>
        <p:nvSpPr>
          <p:cNvPr id="95" name="Shape 75"/>
          <p:cNvSpPr/>
          <p:nvPr/>
        </p:nvSpPr>
        <p:spPr>
          <a:xfrm>
            <a:off x="7507224" y="3346704"/>
            <a:ext cx="274320" cy="27432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96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75804" y="3415284"/>
            <a:ext cx="137160" cy="137160"/>
          </a:xfrm>
          <a:prstGeom prst="rect">
            <a:avLst/>
          </a:prstGeom>
        </p:spPr>
      </p:pic>
      <p:sp>
        <p:nvSpPr>
          <p:cNvPr id="97" name="Text 76"/>
          <p:cNvSpPr/>
          <p:nvPr/>
        </p:nvSpPr>
        <p:spPr>
          <a:xfrm>
            <a:off x="7872984" y="32735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and Standardization</a:t>
            </a:r>
            <a:endParaRPr lang="en-US" sz="860" dirty="0"/>
          </a:p>
        </p:txBody>
      </p:sp>
      <p:sp>
        <p:nvSpPr>
          <p:cNvPr id="98" name="Text 77"/>
          <p:cNvSpPr/>
          <p:nvPr/>
        </p:nvSpPr>
        <p:spPr>
          <a:xfrm>
            <a:off x="7872984" y="345643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uniform outputs through standard templates and governed processes.</a:t>
            </a:r>
            <a:endParaRPr lang="en-US" sz="740" dirty="0"/>
          </a:p>
        </p:txBody>
      </p:sp>
      <p:sp>
        <p:nvSpPr>
          <p:cNvPr id="99" name="Shape 78"/>
          <p:cNvSpPr/>
          <p:nvPr/>
        </p:nvSpPr>
        <p:spPr>
          <a:xfrm>
            <a:off x="274320" y="4142232"/>
            <a:ext cx="11612880" cy="0"/>
          </a:xfrm>
          <a:prstGeom prst="line">
            <a:avLst/>
          </a:prstGeom>
          <a:noFill/>
          <a:ln w="12700">
            <a:solidFill>
              <a:srgbClr val="C9D0DC"/>
            </a:solidFill>
            <a:prstDash val="solid"/>
          </a:ln>
        </p:spPr>
      </p:sp>
      <p:sp>
        <p:nvSpPr>
          <p:cNvPr id="100" name="Shape 79"/>
          <p:cNvSpPr/>
          <p:nvPr/>
        </p:nvSpPr>
        <p:spPr>
          <a:xfrm>
            <a:off x="4069080" y="3950208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0F1E5B"/>
          </a:solidFill>
          <a:ln/>
        </p:spPr>
      </p:sp>
      <p:sp>
        <p:nvSpPr>
          <p:cNvPr id="101" name="Text 80"/>
          <p:cNvSpPr/>
          <p:nvPr/>
        </p:nvSpPr>
        <p:spPr>
          <a:xfrm>
            <a:off x="4069080" y="39502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400" dirty="0"/>
          </a:p>
        </p:txBody>
      </p:sp>
      <p:sp>
        <p:nvSpPr>
          <p:cNvPr id="102" name="Shape 81"/>
          <p:cNvSpPr/>
          <p:nvPr/>
        </p:nvSpPr>
        <p:spPr>
          <a:xfrm>
            <a:off x="2743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F0F8F2"/>
          </a:solidFill>
          <a:ln w="12700">
            <a:solidFill>
              <a:srgbClr val="BFE3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3" name="Shape 82"/>
          <p:cNvSpPr/>
          <p:nvPr/>
        </p:nvSpPr>
        <p:spPr>
          <a:xfrm>
            <a:off x="420624" y="4626864"/>
            <a:ext cx="384048" cy="384048"/>
          </a:xfrm>
          <a:prstGeom prst="ellipse">
            <a:avLst/>
          </a:prstGeom>
          <a:solidFill>
            <a:srgbClr val="2E9E4B"/>
          </a:solidFill>
          <a:ln/>
        </p:spPr>
      </p:sp>
      <p:pic>
        <p:nvPicPr>
          <p:cNvPr id="104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7035" y="4713275"/>
            <a:ext cx="211226" cy="211226"/>
          </a:xfrm>
          <a:prstGeom prst="rect">
            <a:avLst/>
          </a:prstGeom>
        </p:spPr>
      </p:pic>
      <p:sp>
        <p:nvSpPr>
          <p:cNvPr id="105" name="Text 83"/>
          <p:cNvSpPr/>
          <p:nvPr/>
        </p:nvSpPr>
        <p:spPr>
          <a:xfrm>
            <a:off x="8778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Team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9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(Roopali Revenkar &amp; PO Team)</a:t>
            </a:r>
            <a:endParaRPr lang="en-US" sz="1150" dirty="0"/>
          </a:p>
        </p:txBody>
      </p:sp>
      <p:sp>
        <p:nvSpPr>
          <p:cNvPr id="106" name="Text 84"/>
          <p:cNvSpPr/>
          <p:nvPr/>
        </p:nvSpPr>
        <p:spPr>
          <a:xfrm>
            <a:off x="4389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use cases: BRD from process maps, legacy docs, emails, chats, Confluence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BRD templates &amp; input/output standardisation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 maps in Miro</a:t>
            </a:r>
            <a:endParaRPr lang="en-US" sz="840" dirty="0"/>
          </a:p>
        </p:txBody>
      </p:sp>
      <p:pic>
        <p:nvPicPr>
          <p:cNvPr id="107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10712" y="5687568"/>
            <a:ext cx="384048" cy="310896"/>
          </a:xfrm>
          <a:prstGeom prst="rect">
            <a:avLst/>
          </a:prstGeom>
        </p:spPr>
      </p:pic>
      <p:sp>
        <p:nvSpPr>
          <p:cNvPr id="108" name="Shape 85"/>
          <p:cNvSpPr/>
          <p:nvPr/>
        </p:nvSpPr>
        <p:spPr>
          <a:xfrm>
            <a:off x="4160520" y="4498848"/>
            <a:ext cx="3703320" cy="1572768"/>
          </a:xfrm>
          <a:prstGeom prst="roundRect">
            <a:avLst>
              <a:gd name="adj" fmla="val 4070"/>
            </a:avLst>
          </a:prstGeom>
          <a:solidFill>
            <a:srgbClr val="EEF4FC"/>
          </a:solidFill>
          <a:ln w="12700">
            <a:solidFill>
              <a:srgbClr val="C2D7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9" name="Shape 86"/>
          <p:cNvSpPr/>
          <p:nvPr/>
        </p:nvSpPr>
        <p:spPr>
          <a:xfrm>
            <a:off x="4306824" y="4626864"/>
            <a:ext cx="384048" cy="384048"/>
          </a:xfrm>
          <a:prstGeom prst="ellipse">
            <a:avLst/>
          </a:prstGeom>
          <a:solidFill>
            <a:srgbClr val="2E5FAE"/>
          </a:solidFill>
          <a:ln/>
        </p:spPr>
      </p:sp>
      <p:pic>
        <p:nvPicPr>
          <p:cNvPr id="110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93235" y="4713275"/>
            <a:ext cx="211226" cy="211226"/>
          </a:xfrm>
          <a:prstGeom prst="rect">
            <a:avLst/>
          </a:prstGeom>
        </p:spPr>
      </p:pic>
      <p:sp>
        <p:nvSpPr>
          <p:cNvPr id="111" name="Text 87"/>
          <p:cNvSpPr/>
          <p:nvPr/>
        </p:nvSpPr>
        <p:spPr>
          <a:xfrm>
            <a:off x="4764024" y="4608576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Engineering Leadership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E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(Chris Armstrong)</a:t>
            </a:r>
            <a:endParaRPr lang="en-US" sz="1150" dirty="0"/>
          </a:p>
        </p:txBody>
      </p:sp>
      <p:sp>
        <p:nvSpPr>
          <p:cNvPr id="112" name="Text 88"/>
          <p:cNvSpPr/>
          <p:nvPr/>
        </p:nvSpPr>
        <p:spPr>
          <a:xfrm>
            <a:off x="4325112" y="5102352"/>
            <a:ext cx="3392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phase-wise deep dive sessions (Req → Deploy)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TCS AI Team (external to MDM) to deliver end-to-end demos</a:t>
            </a:r>
            <a:endParaRPr lang="en-US" sz="840" dirty="0"/>
          </a:p>
        </p:txBody>
      </p:sp>
      <p:pic>
        <p:nvPicPr>
          <p:cNvPr id="11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53812" y="5650992"/>
            <a:ext cx="310896" cy="310896"/>
          </a:xfrm>
          <a:prstGeom prst="rect">
            <a:avLst/>
          </a:prstGeom>
        </p:spPr>
      </p:pic>
      <p:sp>
        <p:nvSpPr>
          <p:cNvPr id="114" name="Shape 89"/>
          <p:cNvSpPr/>
          <p:nvPr/>
        </p:nvSpPr>
        <p:spPr>
          <a:xfrm>
            <a:off x="5865876" y="5760720"/>
            <a:ext cx="292608" cy="91440"/>
          </a:xfrm>
          <a:prstGeom prst="rightArrow">
            <a:avLst/>
          </a:prstGeom>
          <a:solidFill>
            <a:srgbClr val="2E5FAE"/>
          </a:solidFill>
          <a:ln/>
        </p:spPr>
      </p:sp>
      <p:pic>
        <p:nvPicPr>
          <p:cNvPr id="115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3076" y="5650992"/>
            <a:ext cx="310896" cy="310896"/>
          </a:xfrm>
          <a:prstGeom prst="rect">
            <a:avLst/>
          </a:prstGeom>
        </p:spPr>
      </p:pic>
      <p:sp>
        <p:nvSpPr>
          <p:cNvPr id="116" name="Shape 90"/>
          <p:cNvSpPr/>
          <p:nvPr/>
        </p:nvSpPr>
        <p:spPr>
          <a:xfrm>
            <a:off x="8046720" y="4498848"/>
            <a:ext cx="3840480" cy="1572768"/>
          </a:xfrm>
          <a:prstGeom prst="roundRect">
            <a:avLst>
              <a:gd name="adj" fmla="val 4070"/>
            </a:avLst>
          </a:prstGeom>
          <a:solidFill>
            <a:srgbClr val="F2EFFA"/>
          </a:solidFill>
          <a:ln w="12700">
            <a:solidFill>
              <a:srgbClr val="D5CCE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17" name="Shape 91"/>
          <p:cNvSpPr/>
          <p:nvPr/>
        </p:nvSpPr>
        <p:spPr>
          <a:xfrm>
            <a:off x="8193024" y="4626864"/>
            <a:ext cx="384048" cy="384048"/>
          </a:xfrm>
          <a:prstGeom prst="ellipse">
            <a:avLst/>
          </a:prstGeom>
          <a:solidFill>
            <a:srgbClr val="44309A"/>
          </a:solidFill>
          <a:ln/>
        </p:spPr>
      </p:sp>
      <p:pic>
        <p:nvPicPr>
          <p:cNvPr id="118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79435" y="4713275"/>
            <a:ext cx="211226" cy="211226"/>
          </a:xfrm>
          <a:prstGeom prst="rect">
            <a:avLst/>
          </a:prstGeom>
        </p:spPr>
      </p:pic>
      <p:sp>
        <p:nvSpPr>
          <p:cNvPr id="119" name="Text 92"/>
          <p:cNvSpPr/>
          <p:nvPr/>
        </p:nvSpPr>
        <p:spPr>
          <a:xfrm>
            <a:off x="8650224" y="460857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Leadership Enablement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443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 &amp; HOEs)</a:t>
            </a:r>
            <a:endParaRPr lang="en-US" sz="1150" dirty="0"/>
          </a:p>
        </p:txBody>
      </p:sp>
      <p:sp>
        <p:nvSpPr>
          <p:cNvPr id="120" name="Text 93"/>
          <p:cNvSpPr/>
          <p:nvPr/>
        </p:nvSpPr>
        <p:spPr>
          <a:xfrm>
            <a:off x="8211312" y="5102352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demo sessions to build adoption confidence</a:t>
            </a:r>
            <a:endParaRPr lang="en-US" sz="840" dirty="0"/>
          </a:p>
          <a:p>
            <a:pPr marL="152400" indent="-1524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4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training, guidelines, code quality, security checks &amp; productivity metrics</a:t>
            </a:r>
            <a:endParaRPr lang="en-US" sz="840" dirty="0"/>
          </a:p>
        </p:txBody>
      </p:sp>
      <p:pic>
        <p:nvPicPr>
          <p:cNvPr id="121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04704" y="5687568"/>
            <a:ext cx="274320" cy="274320"/>
          </a:xfrm>
          <a:prstGeom prst="rect">
            <a:avLst/>
          </a:prstGeom>
        </p:spPr>
      </p:pic>
      <p:pic>
        <p:nvPicPr>
          <p:cNvPr id="122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25328" y="5687568"/>
            <a:ext cx="274320" cy="274320"/>
          </a:xfrm>
          <a:prstGeom prst="rect">
            <a:avLst/>
          </a:prstGeom>
        </p:spPr>
      </p:pic>
      <p:pic>
        <p:nvPicPr>
          <p:cNvPr id="123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45952" y="5687568"/>
            <a:ext cx="274320" cy="274320"/>
          </a:xfrm>
          <a:prstGeom prst="rect">
            <a:avLst/>
          </a:prstGeom>
        </p:spPr>
      </p:pic>
      <p:pic>
        <p:nvPicPr>
          <p:cNvPr id="124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466576" y="5687568"/>
            <a:ext cx="274320" cy="274320"/>
          </a:xfrm>
          <a:prstGeom prst="rect">
            <a:avLst/>
          </a:prstGeom>
        </p:spPr>
      </p:pic>
      <p:sp>
        <p:nvSpPr>
          <p:cNvPr id="125" name="Shape 94"/>
          <p:cNvSpPr/>
          <p:nvPr/>
        </p:nvSpPr>
        <p:spPr>
          <a:xfrm>
            <a:off x="274320" y="6199632"/>
            <a:ext cx="11612880" cy="457200"/>
          </a:xfrm>
          <a:prstGeom prst="roundRect">
            <a:avLst>
              <a:gd name="adj" fmla="val 16000"/>
            </a:avLst>
          </a:prstGeom>
          <a:solidFill>
            <a:srgbClr val="FBF2D4"/>
          </a:solidFill>
          <a:ln w="12700">
            <a:solidFill>
              <a:srgbClr val="EAD79A"/>
            </a:solidFill>
            <a:prstDash val="solid"/>
          </a:ln>
        </p:spPr>
      </p:sp>
      <p:sp>
        <p:nvSpPr>
          <p:cNvPr id="126" name="Shape 95"/>
          <p:cNvSpPr/>
          <p:nvPr/>
        </p:nvSpPr>
        <p:spPr>
          <a:xfrm>
            <a:off x="457200" y="6281928"/>
            <a:ext cx="292608" cy="292608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127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3037" y="6347765"/>
            <a:ext cx="160934" cy="160934"/>
          </a:xfrm>
          <a:prstGeom prst="rect">
            <a:avLst/>
          </a:prstGeom>
        </p:spPr>
      </p:pic>
      <p:sp>
        <p:nvSpPr>
          <p:cNvPr id="128" name="Text 96"/>
          <p:cNvSpPr/>
          <p:nvPr/>
        </p:nvSpPr>
        <p:spPr>
          <a:xfrm>
            <a:off x="841248" y="6199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Ask</a:t>
            </a:r>
            <a:endParaRPr lang="en-US" sz="1250" dirty="0"/>
          </a:p>
        </p:txBody>
      </p:sp>
      <p:sp>
        <p:nvSpPr>
          <p:cNvPr id="129" name="Shape 97"/>
          <p:cNvSpPr/>
          <p:nvPr/>
        </p:nvSpPr>
        <p:spPr>
          <a:xfrm>
            <a:off x="2331720" y="6291072"/>
            <a:ext cx="0" cy="274320"/>
          </a:xfrm>
          <a:prstGeom prst="line">
            <a:avLst/>
          </a:prstGeom>
          <a:noFill/>
          <a:ln w="12700">
            <a:solidFill>
              <a:srgbClr val="C9B976"/>
            </a:solidFill>
            <a:prstDash val="solid"/>
          </a:ln>
        </p:spPr>
      </p:sp>
      <p:sp>
        <p:nvSpPr>
          <p:cNvPr id="130" name="Text 98"/>
          <p:cNvSpPr/>
          <p:nvPr/>
        </p:nvSpPr>
        <p:spPr>
          <a:xfrm>
            <a:off x="2487168" y="61996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Elizabeth Rout / Chinmayee N to align with Roopali Revenkar &amp; Chris Armstrong on availability and scheduling of next workshops &amp; adoption roadmap.</a:t>
            </a:r>
            <a:endParaRPr lang="en-US" sz="950" dirty="0"/>
          </a:p>
        </p:txBody>
      </p:sp>
      <p:pic>
        <p:nvPicPr>
          <p:cNvPr id="1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430000" y="6291072"/>
            <a:ext cx="292608" cy="274320"/>
          </a:xfrm>
          <a:prstGeom prst="rect">
            <a:avLst/>
          </a:prstGeom>
        </p:spPr>
      </p:pic>
      <p:sp>
        <p:nvSpPr>
          <p:cNvPr id="132" name="Shape 99"/>
          <p:cNvSpPr/>
          <p:nvPr/>
        </p:nvSpPr>
        <p:spPr>
          <a:xfrm>
            <a:off x="45720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133" name="Shape 100"/>
          <p:cNvSpPr/>
          <p:nvPr/>
        </p:nvSpPr>
        <p:spPr>
          <a:xfrm>
            <a:off x="9875520" y="6693408"/>
            <a:ext cx="1828800" cy="0"/>
          </a:xfrm>
          <a:prstGeom prst="line">
            <a:avLst/>
          </a:prstGeom>
          <a:noFill/>
          <a:ln w="12700">
            <a:solidFill>
              <a:srgbClr val="0F1E5B"/>
            </a:solidFill>
            <a:prstDash val="solid"/>
          </a:ln>
        </p:spPr>
      </p:sp>
      <p:sp>
        <p:nvSpPr>
          <p:cNvPr id="134" name="Shape 101"/>
          <p:cNvSpPr/>
          <p:nvPr/>
        </p:nvSpPr>
        <p:spPr>
          <a:xfrm>
            <a:off x="2377440" y="6583680"/>
            <a:ext cx="256032" cy="256032"/>
          </a:xfrm>
          <a:prstGeom prst="ellipse">
            <a:avLst/>
          </a:prstGeom>
          <a:solidFill>
            <a:srgbClr val="0F1E5B"/>
          </a:solidFill>
          <a:ln/>
        </p:spPr>
      </p:sp>
      <p:pic>
        <p:nvPicPr>
          <p:cNvPr id="135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435047" y="6641287"/>
            <a:ext cx="140818" cy="140818"/>
          </a:xfrm>
          <a:prstGeom prst="rect">
            <a:avLst/>
          </a:prstGeom>
        </p:spPr>
      </p:pic>
      <p:sp>
        <p:nvSpPr>
          <p:cNvPr id="136" name="Text 102"/>
          <p:cNvSpPr/>
          <p:nvPr/>
        </p:nvSpPr>
        <p:spPr>
          <a:xfrm>
            <a:off x="274320" y="6547104"/>
            <a:ext cx="11612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accelerate AI adoption and deliver greater value across Supply Chain MDM!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MDM - AI in SDLC | Workshop Update</dc:title>
  <dc:subject>PptxGenJS Presentation</dc:subject>
  <dc:creator>AI in SDLC</dc:creator>
  <cp:lastModifiedBy>AI in SDLC</cp:lastModifiedBy>
  <cp:revision>1</cp:revision>
  <dcterms:created xsi:type="dcterms:W3CDTF">2026-06-17T20:32:50Z</dcterms:created>
  <dcterms:modified xsi:type="dcterms:W3CDTF">2026-06-17T20:32:50Z</dcterms:modified>
</cp:coreProperties>
</file>
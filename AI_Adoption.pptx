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 - </a:t>
            </a:r>
            <a:pPr algn="ctr" indent="0" marL="0">
              <a:buNone/>
            </a:pPr>
            <a:r>
              <a:rPr lang="en-US" sz="2800" b="1" dirty="0">
                <a:solidFill>
                  <a:srgbClr val="563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55448" y="548640"/>
            <a:ext cx="3950208" cy="530352"/>
          </a:xfrm>
          <a:prstGeom prst="chevron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9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95528" y="548640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Baseline Processes,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and Best Practices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51376" y="548640"/>
            <a:ext cx="3950208" cy="530352"/>
          </a:xfrm>
          <a:prstGeom prst="chevron">
            <a:avLst/>
          </a:prstGeom>
          <a:solidFill>
            <a:srgbClr val="2D9B5F"/>
          </a:solidFill>
          <a:ln w="12700">
            <a:solidFill>
              <a:srgbClr val="2D9B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5968" y="64922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5968" y="649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91456" y="548640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Spec-driven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47304" y="548640"/>
            <a:ext cx="3950208" cy="530352"/>
          </a:xfrm>
          <a:prstGeom prst="chevron">
            <a:avLst/>
          </a:prstGeom>
          <a:solidFill>
            <a:srgbClr val="6F4FC9"/>
          </a:solidFill>
          <a:ln w="12700">
            <a:solidFill>
              <a:srgbClr val="6F4F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11896" y="64922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1896" y="649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4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787384" y="548640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Adoption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Teams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55448" y="1143000"/>
            <a:ext cx="3950208" cy="2560320"/>
          </a:xfrm>
          <a:prstGeom prst="roundRect">
            <a:avLst>
              <a:gd name="adj" fmla="val 2143"/>
            </a:avLst>
          </a:prstGeom>
          <a:solidFill>
            <a:srgbClr val="F4F2FB"/>
          </a:solidFill>
          <a:ln w="12700">
            <a:solidFill>
              <a:srgbClr val="DCDF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" y="1371600"/>
            <a:ext cx="237744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69848" y="146304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Assessment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4088" y="1901952"/>
            <a:ext cx="2011680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93392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69848" y="19019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Baseline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04088" y="2340864"/>
            <a:ext cx="2011680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32304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69848" y="234086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04088" y="2779776"/>
            <a:ext cx="2011680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871216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69848" y="277977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704088" y="3218688"/>
            <a:ext cx="2011680" cy="0"/>
          </a:xfrm>
          <a:prstGeom prst="line">
            <a:avLst/>
          </a:prstGeom>
          <a:noFill/>
          <a:ln w="9525">
            <a:solidFill>
              <a:srgbClr val="EFEFEF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310128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69848" y="321868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Tools</a:t>
            </a:r>
            <a:endParaRPr lang="en-US" sz="11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6976" y="1417320"/>
            <a:ext cx="640080" cy="640080"/>
          </a:xfrm>
          <a:prstGeom prst="rect">
            <a:avLst/>
          </a:prstGeom>
        </p:spPr>
      </p:pic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6976" y="2194560"/>
            <a:ext cx="640080" cy="640080"/>
          </a:xfrm>
          <a:prstGeom prst="rect">
            <a:avLst/>
          </a:prstGeom>
        </p:spPr>
      </p:pic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6976" y="3017520"/>
            <a:ext cx="502920" cy="50292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4151376" y="1143000"/>
            <a:ext cx="3950208" cy="2560320"/>
          </a:xfrm>
          <a:prstGeom prst="roundRect">
            <a:avLst>
              <a:gd name="adj" fmla="val 2143"/>
            </a:avLst>
          </a:prstGeom>
          <a:solidFill>
            <a:srgbClr val="F4F2FB"/>
          </a:solidFill>
          <a:ln w="12700">
            <a:solidFill>
              <a:srgbClr val="DCDFE6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5532120" y="1988820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2D9B5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Text 26"/>
          <p:cNvSpPr/>
          <p:nvPr/>
        </p:nvSpPr>
        <p:spPr>
          <a:xfrm>
            <a:off x="5532120" y="19888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3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0" y="2354580"/>
            <a:ext cx="109728" cy="10972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5833872" y="2409444"/>
            <a:ext cx="594360" cy="0"/>
          </a:xfrm>
          <a:prstGeom prst="line">
            <a:avLst/>
          </a:prstGeom>
          <a:noFill/>
          <a:ln w="9525">
            <a:solidFill>
              <a:srgbClr val="8088A0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0" y="2510028"/>
            <a:ext cx="109728" cy="109728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5833872" y="2564892"/>
            <a:ext cx="594360" cy="0"/>
          </a:xfrm>
          <a:prstGeom prst="line">
            <a:avLst/>
          </a:prstGeom>
          <a:noFill/>
          <a:ln w="9525">
            <a:solidFill>
              <a:srgbClr val="8088A0"/>
            </a:solidFill>
            <a:prstDash val="solid"/>
          </a:ln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9280" y="2665476"/>
            <a:ext cx="109728" cy="109728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5833872" y="2720340"/>
            <a:ext cx="594360" cy="0"/>
          </a:xfrm>
          <a:prstGeom prst="line">
            <a:avLst/>
          </a:prstGeom>
          <a:noFill/>
          <a:ln w="9525">
            <a:solidFill>
              <a:srgbClr val="8088A0"/>
            </a:solidFill>
            <a:prstDash val="solid"/>
          </a:ln>
        </p:spPr>
      </p:sp>
      <p:sp>
        <p:nvSpPr>
          <p:cNvPr id="43" name="Shape 30"/>
          <p:cNvSpPr/>
          <p:nvPr/>
        </p:nvSpPr>
        <p:spPr>
          <a:xfrm>
            <a:off x="5646420" y="1014984"/>
            <a:ext cx="960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7000"/>
              </a:srgbClr>
            </a:outerShdw>
          </a:effectLst>
        </p:spPr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89320" y="1069848"/>
            <a:ext cx="274320" cy="274320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5646420" y="136245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Spec</a:t>
            </a:r>
            <a:endParaRPr lang="en-US" sz="1000" dirty="0"/>
          </a:p>
        </p:txBody>
      </p:sp>
      <p:sp>
        <p:nvSpPr>
          <p:cNvPr id="46" name="Shape 32"/>
          <p:cNvSpPr/>
          <p:nvPr/>
        </p:nvSpPr>
        <p:spPr>
          <a:xfrm>
            <a:off x="6697980" y="2066544"/>
            <a:ext cx="960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7000"/>
              </a:srgbClr>
            </a:outerShdw>
          </a:effectLst>
        </p:spPr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0880" y="2121408"/>
            <a:ext cx="274320" cy="274320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6697980" y="241401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Validate Spec</a:t>
            </a:r>
            <a:endParaRPr lang="en-US" sz="1000" dirty="0"/>
          </a:p>
        </p:txBody>
      </p:sp>
      <p:sp>
        <p:nvSpPr>
          <p:cNvPr id="49" name="Shape 34"/>
          <p:cNvSpPr/>
          <p:nvPr/>
        </p:nvSpPr>
        <p:spPr>
          <a:xfrm>
            <a:off x="5646420" y="3118104"/>
            <a:ext cx="960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7000"/>
              </a:srgbClr>
            </a:outerShdw>
          </a:effectLst>
        </p:spPr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89320" y="3172968"/>
            <a:ext cx="274320" cy="274320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5646420" y="346557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</a:t>
            </a:r>
            <a:endParaRPr lang="en-US" sz="1000" dirty="0"/>
          </a:p>
        </p:txBody>
      </p:sp>
      <p:sp>
        <p:nvSpPr>
          <p:cNvPr id="52" name="Shape 36"/>
          <p:cNvSpPr/>
          <p:nvPr/>
        </p:nvSpPr>
        <p:spPr>
          <a:xfrm>
            <a:off x="4594860" y="2066544"/>
            <a:ext cx="960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7000"/>
              </a:srgbClr>
            </a:outerShdw>
          </a:effectLst>
        </p:spPr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7760" y="2121408"/>
            <a:ext cx="274320" cy="274320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4594860" y="241401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Verify</a:t>
            </a:r>
            <a:endParaRPr lang="en-US" sz="1000" dirty="0"/>
          </a:p>
        </p:txBody>
      </p:sp>
      <p:sp>
        <p:nvSpPr>
          <p:cNvPr id="55" name="Shape 38"/>
          <p:cNvSpPr/>
          <p:nvPr/>
        </p:nvSpPr>
        <p:spPr>
          <a:xfrm>
            <a:off x="6400800" y="1554480"/>
            <a:ext cx="685800" cy="685800"/>
          </a:xfrm>
          <a:prstGeom prst="line">
            <a:avLst/>
          </a:prstGeom>
          <a:noFill/>
          <a:ln w="19050">
            <a:solidFill>
              <a:srgbClr val="2D9B5F"/>
            </a:solidFill>
            <a:prstDash val="solid"/>
            <a:tailEnd type="triangle"/>
          </a:ln>
        </p:spPr>
      </p:sp>
      <p:sp>
        <p:nvSpPr>
          <p:cNvPr id="56" name="Shape 39"/>
          <p:cNvSpPr/>
          <p:nvPr/>
        </p:nvSpPr>
        <p:spPr>
          <a:xfrm>
            <a:off x="6995160" y="2697480"/>
            <a:ext cx="-685800" cy="685800"/>
          </a:xfrm>
          <a:prstGeom prst="line">
            <a:avLst/>
          </a:prstGeom>
          <a:noFill/>
          <a:ln w="19050">
            <a:solidFill>
              <a:srgbClr val="2D9B5F"/>
            </a:solidFill>
            <a:prstDash val="solid"/>
            <a:tailEnd type="triangle"/>
          </a:ln>
        </p:spPr>
      </p:sp>
      <p:sp>
        <p:nvSpPr>
          <p:cNvPr id="57" name="Shape 40"/>
          <p:cNvSpPr/>
          <p:nvPr/>
        </p:nvSpPr>
        <p:spPr>
          <a:xfrm>
            <a:off x="5852160" y="3291840"/>
            <a:ext cx="-685800" cy="-685800"/>
          </a:xfrm>
          <a:prstGeom prst="line">
            <a:avLst/>
          </a:prstGeom>
          <a:noFill/>
          <a:ln w="19050">
            <a:solidFill>
              <a:srgbClr val="2D9B5F"/>
            </a:solidFill>
            <a:prstDash val="solid"/>
            <a:tailEnd type="triangle"/>
          </a:ln>
        </p:spPr>
      </p:sp>
      <p:sp>
        <p:nvSpPr>
          <p:cNvPr id="58" name="Shape 41"/>
          <p:cNvSpPr/>
          <p:nvPr/>
        </p:nvSpPr>
        <p:spPr>
          <a:xfrm>
            <a:off x="5257800" y="2148840"/>
            <a:ext cx="685800" cy="-685800"/>
          </a:xfrm>
          <a:prstGeom prst="line">
            <a:avLst/>
          </a:prstGeom>
          <a:noFill/>
          <a:ln w="19050">
            <a:solidFill>
              <a:srgbClr val="2D9B5F"/>
            </a:solidFill>
            <a:prstDash val="solid"/>
            <a:tailEnd type="triangle"/>
          </a:ln>
        </p:spPr>
      </p:sp>
      <p:sp>
        <p:nvSpPr>
          <p:cNvPr id="59" name="Shape 42"/>
          <p:cNvSpPr/>
          <p:nvPr/>
        </p:nvSpPr>
        <p:spPr>
          <a:xfrm>
            <a:off x="8147304" y="1143000"/>
            <a:ext cx="3950208" cy="2560320"/>
          </a:xfrm>
          <a:prstGeom prst="roundRect">
            <a:avLst>
              <a:gd name="adj" fmla="val 2143"/>
            </a:avLst>
          </a:prstGeom>
          <a:solidFill>
            <a:srgbClr val="F4F2FB"/>
          </a:solidFill>
          <a:ln w="12700">
            <a:solidFill>
              <a:srgbClr val="DCDFE6"/>
            </a:solidFill>
            <a:prstDash val="solid"/>
          </a:ln>
        </p:spPr>
      </p:sp>
      <p:sp>
        <p:nvSpPr>
          <p:cNvPr id="60" name="Shape 43"/>
          <p:cNvSpPr/>
          <p:nvPr/>
        </p:nvSpPr>
        <p:spPr>
          <a:xfrm>
            <a:off x="9665208" y="1719072"/>
            <a:ext cx="914400" cy="914400"/>
          </a:xfrm>
          <a:prstGeom prst="ellipse">
            <a:avLst/>
          </a:prstGeom>
          <a:solidFill>
            <a:srgbClr val="6F4FC9"/>
          </a:solidFill>
          <a:ln w="12700">
            <a:solidFill>
              <a:srgbClr val="6F4FC9"/>
            </a:solidFill>
            <a:prstDash val="solid"/>
          </a:ln>
        </p:spPr>
      </p:sp>
      <p:pic>
        <p:nvPicPr>
          <p:cNvPr id="6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93808" y="1856232"/>
            <a:ext cx="457200" cy="457200"/>
          </a:xfrm>
          <a:prstGeom prst="rect">
            <a:avLst/>
          </a:prstGeom>
        </p:spPr>
      </p:pic>
      <p:sp>
        <p:nvSpPr>
          <p:cNvPr id="62" name="Text 44"/>
          <p:cNvSpPr/>
          <p:nvPr/>
        </p:nvSpPr>
        <p:spPr>
          <a:xfrm>
            <a:off x="9482328" y="22219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of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</a:t>
            </a:r>
            <a:endParaRPr lang="en-US" sz="850" dirty="0"/>
          </a:p>
        </p:txBody>
      </p:sp>
      <p:sp>
        <p:nvSpPr>
          <p:cNvPr id="63" name="Shape 45"/>
          <p:cNvSpPr/>
          <p:nvPr/>
        </p:nvSpPr>
        <p:spPr>
          <a:xfrm>
            <a:off x="8311896" y="1307592"/>
            <a:ext cx="82296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6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77072" y="1380744"/>
            <a:ext cx="292608" cy="292608"/>
          </a:xfrm>
          <a:prstGeom prst="rect">
            <a:avLst/>
          </a:prstGeom>
        </p:spPr>
      </p:pic>
      <p:sp>
        <p:nvSpPr>
          <p:cNvPr id="65" name="Text 46"/>
          <p:cNvSpPr/>
          <p:nvPr/>
        </p:nvSpPr>
        <p:spPr>
          <a:xfrm>
            <a:off x="8311896" y="16733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</a:t>
            </a:r>
            <a:endParaRPr lang="en-US" sz="850" dirty="0"/>
          </a:p>
        </p:txBody>
      </p:sp>
      <p:sp>
        <p:nvSpPr>
          <p:cNvPr id="66" name="Shape 47"/>
          <p:cNvSpPr/>
          <p:nvPr/>
        </p:nvSpPr>
        <p:spPr>
          <a:xfrm>
            <a:off x="8723376" y="1600200"/>
            <a:ext cx="1399032" cy="576072"/>
          </a:xfrm>
          <a:prstGeom prst="line">
            <a:avLst/>
          </a:prstGeom>
          <a:noFill/>
          <a:ln w="9525">
            <a:solidFill>
              <a:srgbClr val="6F4FC9"/>
            </a:solidFill>
            <a:prstDash val="dash"/>
          </a:ln>
        </p:spPr>
      </p:sp>
      <p:sp>
        <p:nvSpPr>
          <p:cNvPr id="67" name="Shape 48"/>
          <p:cNvSpPr/>
          <p:nvPr/>
        </p:nvSpPr>
        <p:spPr>
          <a:xfrm>
            <a:off x="11109960" y="1307592"/>
            <a:ext cx="82296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6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75136" y="1380744"/>
            <a:ext cx="292608" cy="292608"/>
          </a:xfrm>
          <a:prstGeom prst="rect">
            <a:avLst/>
          </a:prstGeom>
        </p:spPr>
      </p:pic>
      <p:sp>
        <p:nvSpPr>
          <p:cNvPr id="69" name="Text 49"/>
          <p:cNvSpPr/>
          <p:nvPr/>
        </p:nvSpPr>
        <p:spPr>
          <a:xfrm>
            <a:off x="11109960" y="16733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</a:t>
            </a:r>
            <a:endParaRPr lang="en-US" sz="850" dirty="0"/>
          </a:p>
        </p:txBody>
      </p:sp>
      <p:sp>
        <p:nvSpPr>
          <p:cNvPr id="70" name="Shape 50"/>
          <p:cNvSpPr/>
          <p:nvPr/>
        </p:nvSpPr>
        <p:spPr>
          <a:xfrm>
            <a:off x="11521440" y="1600200"/>
            <a:ext cx="-1399032" cy="576072"/>
          </a:xfrm>
          <a:prstGeom prst="line">
            <a:avLst/>
          </a:prstGeom>
          <a:noFill/>
          <a:ln w="9525">
            <a:solidFill>
              <a:srgbClr val="6F4FC9"/>
            </a:solidFill>
            <a:prstDash val="dash"/>
          </a:ln>
        </p:spPr>
      </p:sp>
      <p:sp>
        <p:nvSpPr>
          <p:cNvPr id="71" name="Shape 51"/>
          <p:cNvSpPr/>
          <p:nvPr/>
        </p:nvSpPr>
        <p:spPr>
          <a:xfrm>
            <a:off x="8311896" y="1984248"/>
            <a:ext cx="82296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7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77072" y="2057400"/>
            <a:ext cx="292608" cy="292608"/>
          </a:xfrm>
          <a:prstGeom prst="rect">
            <a:avLst/>
          </a:prstGeom>
        </p:spPr>
      </p:pic>
      <p:sp>
        <p:nvSpPr>
          <p:cNvPr id="73" name="Text 52"/>
          <p:cNvSpPr/>
          <p:nvPr/>
        </p:nvSpPr>
        <p:spPr>
          <a:xfrm>
            <a:off x="8311896" y="23500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</a:t>
            </a:r>
            <a:endParaRPr lang="en-US" sz="850" dirty="0"/>
          </a:p>
        </p:txBody>
      </p:sp>
      <p:sp>
        <p:nvSpPr>
          <p:cNvPr id="74" name="Shape 53"/>
          <p:cNvSpPr/>
          <p:nvPr/>
        </p:nvSpPr>
        <p:spPr>
          <a:xfrm>
            <a:off x="8723376" y="2276856"/>
            <a:ext cx="1399032" cy="-100584"/>
          </a:xfrm>
          <a:prstGeom prst="line">
            <a:avLst/>
          </a:prstGeom>
          <a:noFill/>
          <a:ln w="9525">
            <a:solidFill>
              <a:srgbClr val="6F4FC9"/>
            </a:solidFill>
            <a:prstDash val="dash"/>
          </a:ln>
        </p:spPr>
      </p:sp>
      <p:sp>
        <p:nvSpPr>
          <p:cNvPr id="75" name="Shape 54"/>
          <p:cNvSpPr/>
          <p:nvPr/>
        </p:nvSpPr>
        <p:spPr>
          <a:xfrm>
            <a:off x="11109960" y="1984248"/>
            <a:ext cx="82296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7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75136" y="2057400"/>
            <a:ext cx="292608" cy="292608"/>
          </a:xfrm>
          <a:prstGeom prst="rect">
            <a:avLst/>
          </a:prstGeom>
        </p:spPr>
      </p:pic>
      <p:sp>
        <p:nvSpPr>
          <p:cNvPr id="77" name="Text 55"/>
          <p:cNvSpPr/>
          <p:nvPr/>
        </p:nvSpPr>
        <p:spPr>
          <a:xfrm>
            <a:off x="11109960" y="23500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</a:t>
            </a:r>
            <a:endParaRPr lang="en-US" sz="850" dirty="0"/>
          </a:p>
        </p:txBody>
      </p:sp>
      <p:sp>
        <p:nvSpPr>
          <p:cNvPr id="78" name="Shape 56"/>
          <p:cNvSpPr/>
          <p:nvPr/>
        </p:nvSpPr>
        <p:spPr>
          <a:xfrm>
            <a:off x="11521440" y="2276856"/>
            <a:ext cx="-1399032" cy="-100584"/>
          </a:xfrm>
          <a:prstGeom prst="line">
            <a:avLst/>
          </a:prstGeom>
          <a:noFill/>
          <a:ln w="9525">
            <a:solidFill>
              <a:srgbClr val="6F4FC9"/>
            </a:solidFill>
            <a:prstDash val="dash"/>
          </a:ln>
        </p:spPr>
      </p:sp>
      <p:sp>
        <p:nvSpPr>
          <p:cNvPr id="79" name="Shape 57"/>
          <p:cNvSpPr/>
          <p:nvPr/>
        </p:nvSpPr>
        <p:spPr>
          <a:xfrm>
            <a:off x="8311896" y="2660904"/>
            <a:ext cx="82296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8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77072" y="2734056"/>
            <a:ext cx="292608" cy="292608"/>
          </a:xfrm>
          <a:prstGeom prst="rect">
            <a:avLst/>
          </a:prstGeom>
        </p:spPr>
      </p:pic>
      <p:sp>
        <p:nvSpPr>
          <p:cNvPr id="81" name="Text 58"/>
          <p:cNvSpPr/>
          <p:nvPr/>
        </p:nvSpPr>
        <p:spPr>
          <a:xfrm>
            <a:off x="8311896" y="30266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</a:t>
            </a:r>
            <a:endParaRPr lang="en-US" sz="850" dirty="0"/>
          </a:p>
        </p:txBody>
      </p:sp>
      <p:sp>
        <p:nvSpPr>
          <p:cNvPr id="82" name="Shape 59"/>
          <p:cNvSpPr/>
          <p:nvPr/>
        </p:nvSpPr>
        <p:spPr>
          <a:xfrm>
            <a:off x="8723376" y="2953512"/>
            <a:ext cx="1399032" cy="-777240"/>
          </a:xfrm>
          <a:prstGeom prst="line">
            <a:avLst/>
          </a:prstGeom>
          <a:noFill/>
          <a:ln w="9525">
            <a:solidFill>
              <a:srgbClr val="6F4FC9"/>
            </a:solidFill>
            <a:prstDash val="dash"/>
          </a:ln>
        </p:spPr>
      </p:sp>
      <p:sp>
        <p:nvSpPr>
          <p:cNvPr id="83" name="Shape 60"/>
          <p:cNvSpPr/>
          <p:nvPr/>
        </p:nvSpPr>
        <p:spPr>
          <a:xfrm>
            <a:off x="11109960" y="2660904"/>
            <a:ext cx="82296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CDFE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8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375136" y="2734056"/>
            <a:ext cx="292608" cy="292608"/>
          </a:xfrm>
          <a:prstGeom prst="rect">
            <a:avLst/>
          </a:prstGeom>
        </p:spPr>
      </p:pic>
      <p:sp>
        <p:nvSpPr>
          <p:cNvPr id="85" name="Text 61"/>
          <p:cNvSpPr/>
          <p:nvPr/>
        </p:nvSpPr>
        <p:spPr>
          <a:xfrm>
            <a:off x="11109960" y="30266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Teams</a:t>
            </a:r>
            <a:endParaRPr lang="en-US" sz="850" dirty="0"/>
          </a:p>
        </p:txBody>
      </p:sp>
      <p:sp>
        <p:nvSpPr>
          <p:cNvPr id="86" name="Shape 62"/>
          <p:cNvSpPr/>
          <p:nvPr/>
        </p:nvSpPr>
        <p:spPr>
          <a:xfrm>
            <a:off x="11521440" y="2953512"/>
            <a:ext cx="-1399032" cy="-777240"/>
          </a:xfrm>
          <a:prstGeom prst="line">
            <a:avLst/>
          </a:prstGeom>
          <a:noFill/>
          <a:ln w="9525">
            <a:solidFill>
              <a:srgbClr val="6F4FC9"/>
            </a:solidFill>
            <a:prstDash val="dash"/>
          </a:ln>
        </p:spPr>
      </p:sp>
      <p:pic>
        <p:nvPicPr>
          <p:cNvPr id="8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02168" y="3246120"/>
            <a:ext cx="219456" cy="219456"/>
          </a:xfrm>
          <a:prstGeom prst="rect">
            <a:avLst/>
          </a:prstGeom>
        </p:spPr>
      </p:pic>
      <p:sp>
        <p:nvSpPr>
          <p:cNvPr id="88" name="Text 63"/>
          <p:cNvSpPr/>
          <p:nvPr/>
        </p:nvSpPr>
        <p:spPr>
          <a:xfrm>
            <a:off x="8449056" y="3200400"/>
            <a:ext cx="66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</a:t>
            </a:r>
            <a:endParaRPr lang="en-US" sz="700" dirty="0"/>
          </a:p>
        </p:txBody>
      </p:sp>
      <p:pic>
        <p:nvPicPr>
          <p:cNvPr id="8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89720" y="3246120"/>
            <a:ext cx="219456" cy="219456"/>
          </a:xfrm>
          <a:prstGeom prst="rect">
            <a:avLst/>
          </a:prstGeom>
        </p:spPr>
      </p:pic>
      <p:sp>
        <p:nvSpPr>
          <p:cNvPr id="90" name="Text 64"/>
          <p:cNvSpPr/>
          <p:nvPr/>
        </p:nvSpPr>
        <p:spPr>
          <a:xfrm>
            <a:off x="9436608" y="3200400"/>
            <a:ext cx="66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&amp;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Sharing</a:t>
            </a:r>
            <a:endParaRPr lang="en-US" sz="700" dirty="0"/>
          </a:p>
        </p:txBody>
      </p:sp>
      <p:pic>
        <p:nvPicPr>
          <p:cNvPr id="9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177272" y="3246120"/>
            <a:ext cx="219456" cy="219456"/>
          </a:xfrm>
          <a:prstGeom prst="rect">
            <a:avLst/>
          </a:prstGeom>
        </p:spPr>
      </p:pic>
      <p:sp>
        <p:nvSpPr>
          <p:cNvPr id="92" name="Text 65"/>
          <p:cNvSpPr/>
          <p:nvPr/>
        </p:nvSpPr>
        <p:spPr>
          <a:xfrm>
            <a:off x="10424160" y="3200400"/>
            <a:ext cx="66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00" dirty="0"/>
          </a:p>
        </p:txBody>
      </p:sp>
      <p:pic>
        <p:nvPicPr>
          <p:cNvPr id="9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164824" y="3246120"/>
            <a:ext cx="219456" cy="219456"/>
          </a:xfrm>
          <a:prstGeom prst="rect">
            <a:avLst/>
          </a:prstGeom>
        </p:spPr>
      </p:pic>
      <p:sp>
        <p:nvSpPr>
          <p:cNvPr id="94" name="Text 66"/>
          <p:cNvSpPr/>
          <p:nvPr/>
        </p:nvSpPr>
        <p:spPr>
          <a:xfrm>
            <a:off x="11411712" y="3200400"/>
            <a:ext cx="667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700" dirty="0"/>
          </a:p>
        </p:txBody>
      </p:sp>
      <p:sp>
        <p:nvSpPr>
          <p:cNvPr id="95" name="Text 67"/>
          <p:cNvSpPr/>
          <p:nvPr/>
        </p:nvSpPr>
        <p:spPr>
          <a:xfrm>
            <a:off x="155448" y="376732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100" dirty="0"/>
          </a:p>
        </p:txBody>
      </p:sp>
      <p:sp>
        <p:nvSpPr>
          <p:cNvPr id="96" name="Text 68"/>
          <p:cNvSpPr/>
          <p:nvPr/>
        </p:nvSpPr>
        <p:spPr>
          <a:xfrm>
            <a:off x="155448" y="4041648"/>
            <a:ext cx="1883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current state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standard processes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guidelines &amp; best practices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templates and tooling</a:t>
            </a:r>
            <a:endParaRPr lang="en-US" sz="800" dirty="0"/>
          </a:p>
        </p:txBody>
      </p:sp>
      <p:sp>
        <p:nvSpPr>
          <p:cNvPr id="97" name="Text 69"/>
          <p:cNvSpPr/>
          <p:nvPr/>
        </p:nvSpPr>
        <p:spPr>
          <a:xfrm>
            <a:off x="2130552" y="376732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Enablers</a:t>
            </a:r>
            <a:endParaRPr lang="en-US" sz="1100" dirty="0"/>
          </a:p>
        </p:txBody>
      </p:sp>
      <p:sp>
        <p:nvSpPr>
          <p:cNvPr id="98" name="Shape 70"/>
          <p:cNvSpPr/>
          <p:nvPr/>
        </p:nvSpPr>
        <p:spPr>
          <a:xfrm>
            <a:off x="3511296" y="3785616"/>
            <a:ext cx="3657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3B5BDB"/>
            </a:solidFill>
            <a:prstDash val="solid"/>
          </a:ln>
        </p:spPr>
      </p:sp>
      <p:sp>
        <p:nvSpPr>
          <p:cNvPr id="99" name="Text 71"/>
          <p:cNvSpPr/>
          <p:nvPr/>
        </p:nvSpPr>
        <p:spPr>
          <a:xfrm>
            <a:off x="3511296" y="3785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50" dirty="0"/>
          </a:p>
        </p:txBody>
      </p:sp>
      <p:sp>
        <p:nvSpPr>
          <p:cNvPr id="100" name="Text 72"/>
          <p:cNvSpPr/>
          <p:nvPr/>
        </p:nvSpPr>
        <p:spPr>
          <a:xfrm>
            <a:off x="2130552" y="4041648"/>
            <a:ext cx="1837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Mining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Extraction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</a:t>
            </a:r>
            <a:endParaRPr lang="en-US" sz="800" dirty="0"/>
          </a:p>
        </p:txBody>
      </p:sp>
      <p:sp>
        <p:nvSpPr>
          <p:cNvPr id="101" name="Text 73"/>
          <p:cNvSpPr/>
          <p:nvPr/>
        </p:nvSpPr>
        <p:spPr>
          <a:xfrm>
            <a:off x="4151376" y="376732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100" dirty="0"/>
          </a:p>
        </p:txBody>
      </p:sp>
      <p:sp>
        <p:nvSpPr>
          <p:cNvPr id="102" name="Text 74"/>
          <p:cNvSpPr/>
          <p:nvPr/>
        </p:nvSpPr>
        <p:spPr>
          <a:xfrm>
            <a:off x="4151376" y="4041648"/>
            <a:ext cx="1883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by doing with real use cases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spec-first approach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templates, guidelines and tools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champions and success stories</a:t>
            </a:r>
            <a:endParaRPr lang="en-US" sz="800" dirty="0"/>
          </a:p>
        </p:txBody>
      </p:sp>
      <p:sp>
        <p:nvSpPr>
          <p:cNvPr id="103" name="Text 75"/>
          <p:cNvSpPr/>
          <p:nvPr/>
        </p:nvSpPr>
        <p:spPr>
          <a:xfrm>
            <a:off x="6126480" y="376732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Enablers</a:t>
            </a:r>
            <a:endParaRPr lang="en-US" sz="1100" dirty="0"/>
          </a:p>
        </p:txBody>
      </p:sp>
      <p:sp>
        <p:nvSpPr>
          <p:cNvPr id="104" name="Shape 76"/>
          <p:cNvSpPr/>
          <p:nvPr/>
        </p:nvSpPr>
        <p:spPr>
          <a:xfrm>
            <a:off x="7507224" y="3785616"/>
            <a:ext cx="3657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2D9B5F"/>
            </a:solidFill>
            <a:prstDash val="solid"/>
          </a:ln>
        </p:spPr>
      </p:sp>
      <p:sp>
        <p:nvSpPr>
          <p:cNvPr id="105" name="Text 77"/>
          <p:cNvSpPr/>
          <p:nvPr/>
        </p:nvSpPr>
        <p:spPr>
          <a:xfrm>
            <a:off x="7507224" y="3785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9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50" dirty="0"/>
          </a:p>
        </p:txBody>
      </p:sp>
      <p:sp>
        <p:nvSpPr>
          <p:cNvPr id="106" name="Text 78"/>
          <p:cNvSpPr/>
          <p:nvPr/>
        </p:nvSpPr>
        <p:spPr>
          <a:xfrm>
            <a:off x="6126480" y="4041648"/>
            <a:ext cx="1837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Generation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Validation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Generation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Assistance</a:t>
            </a:r>
            <a:endParaRPr lang="en-US" sz="800" dirty="0"/>
          </a:p>
        </p:txBody>
      </p:sp>
      <p:sp>
        <p:nvSpPr>
          <p:cNvPr id="107" name="Text 79"/>
          <p:cNvSpPr/>
          <p:nvPr/>
        </p:nvSpPr>
        <p:spPr>
          <a:xfrm>
            <a:off x="8147304" y="376732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4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100" dirty="0"/>
          </a:p>
        </p:txBody>
      </p:sp>
      <p:sp>
        <p:nvSpPr>
          <p:cNvPr id="108" name="Text 80"/>
          <p:cNvSpPr/>
          <p:nvPr/>
        </p:nvSpPr>
        <p:spPr>
          <a:xfrm>
            <a:off x="8147304" y="4041648"/>
            <a:ext cx="18836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adoption across teams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knowledge and enablement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and governance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at scale</a:t>
            </a:r>
            <a:endParaRPr lang="en-US" sz="800" dirty="0"/>
          </a:p>
        </p:txBody>
      </p:sp>
      <p:sp>
        <p:nvSpPr>
          <p:cNvPr id="109" name="Text 81"/>
          <p:cNvSpPr/>
          <p:nvPr/>
        </p:nvSpPr>
        <p:spPr>
          <a:xfrm>
            <a:off x="10122408" y="376732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4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Enablers</a:t>
            </a:r>
            <a:endParaRPr lang="en-US" sz="1100" dirty="0"/>
          </a:p>
        </p:txBody>
      </p:sp>
      <p:sp>
        <p:nvSpPr>
          <p:cNvPr id="110" name="Shape 82"/>
          <p:cNvSpPr/>
          <p:nvPr/>
        </p:nvSpPr>
        <p:spPr>
          <a:xfrm>
            <a:off x="11503152" y="3785616"/>
            <a:ext cx="3657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6F4FC9"/>
            </a:solidFill>
            <a:prstDash val="solid"/>
          </a:ln>
        </p:spPr>
      </p:sp>
      <p:sp>
        <p:nvSpPr>
          <p:cNvPr id="111" name="Text 83"/>
          <p:cNvSpPr/>
          <p:nvPr/>
        </p:nvSpPr>
        <p:spPr>
          <a:xfrm>
            <a:off x="11503152" y="3785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4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50" dirty="0"/>
          </a:p>
        </p:txBody>
      </p:sp>
      <p:sp>
        <p:nvSpPr>
          <p:cNvPr id="112" name="Text 84"/>
          <p:cNvSpPr/>
          <p:nvPr/>
        </p:nvSpPr>
        <p:spPr>
          <a:xfrm>
            <a:off x="10122408" y="4041648"/>
            <a:ext cx="18379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Agents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Reviews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Dashboards</a:t>
            </a:r>
            <a:endParaRPr lang="en-US" sz="800" dirty="0"/>
          </a:p>
        </p:txBody>
      </p:sp>
      <p:sp>
        <p:nvSpPr>
          <p:cNvPr id="113" name="Shape 85"/>
          <p:cNvSpPr/>
          <p:nvPr/>
        </p:nvSpPr>
        <p:spPr>
          <a:xfrm>
            <a:off x="155448" y="5212080"/>
            <a:ext cx="11878056" cy="713232"/>
          </a:xfrm>
          <a:prstGeom prst="roundRect">
            <a:avLst>
              <a:gd name="adj" fmla="val 7692"/>
            </a:avLst>
          </a:prstGeom>
          <a:solidFill>
            <a:srgbClr val="F4F2FB"/>
          </a:solidFill>
          <a:ln w="12700">
            <a:solidFill>
              <a:srgbClr val="DCD6F0"/>
            </a:solidFill>
            <a:prstDash val="solid"/>
          </a:ln>
        </p:spPr>
      </p:sp>
      <p:sp>
        <p:nvSpPr>
          <p:cNvPr id="114" name="Shape 86"/>
          <p:cNvSpPr/>
          <p:nvPr/>
        </p:nvSpPr>
        <p:spPr>
          <a:xfrm>
            <a:off x="5120640" y="5065776"/>
            <a:ext cx="1947672" cy="292608"/>
          </a:xfrm>
          <a:prstGeom prst="roundRect">
            <a:avLst>
              <a:gd name="adj" fmla="val 50000"/>
            </a:avLst>
          </a:prstGeom>
          <a:solidFill>
            <a:srgbClr val="F4F2FB"/>
          </a:solidFill>
          <a:ln w="12700">
            <a:solidFill>
              <a:srgbClr val="DCD6F0"/>
            </a:solidFill>
            <a:prstDash val="solid"/>
          </a:ln>
        </p:spPr>
      </p:sp>
      <p:sp>
        <p:nvSpPr>
          <p:cNvPr id="115" name="Text 87"/>
          <p:cNvSpPr/>
          <p:nvPr/>
        </p:nvSpPr>
        <p:spPr>
          <a:xfrm>
            <a:off x="5120640" y="5065776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63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Capabilities Across the Journey</a:t>
            </a:r>
            <a:endParaRPr lang="en-US" sz="1000" dirty="0"/>
          </a:p>
        </p:txBody>
      </p:sp>
      <p:pic>
        <p:nvPicPr>
          <p:cNvPr id="116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46888" y="5376672"/>
            <a:ext cx="365760" cy="365760"/>
          </a:xfrm>
          <a:prstGeom prst="rect">
            <a:avLst/>
          </a:prstGeom>
        </p:spPr>
      </p:pic>
      <p:sp>
        <p:nvSpPr>
          <p:cNvPr id="117" name="Text 88"/>
          <p:cNvSpPr/>
          <p:nvPr/>
        </p:nvSpPr>
        <p:spPr>
          <a:xfrm>
            <a:off x="704088" y="525780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&amp; Discover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A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insights from documents, code and processes</a:t>
            </a:r>
            <a:endParaRPr lang="en-US" sz="950" dirty="0"/>
          </a:p>
        </p:txBody>
      </p:sp>
      <p:sp>
        <p:nvSpPr>
          <p:cNvPr id="118" name="Shape 89"/>
          <p:cNvSpPr/>
          <p:nvPr/>
        </p:nvSpPr>
        <p:spPr>
          <a:xfrm>
            <a:off x="2944368" y="5477256"/>
            <a:ext cx="301752" cy="182880"/>
          </a:xfrm>
          <a:prstGeom prst="rightArrow">
            <a:avLst/>
          </a:prstGeom>
          <a:solidFill>
            <a:srgbClr val="6F4FC9"/>
          </a:solidFill>
          <a:ln w="12700">
            <a:solidFill>
              <a:srgbClr val="6F4FC9"/>
            </a:solidFill>
            <a:prstDash val="solid"/>
          </a:ln>
        </p:spPr>
      </p:sp>
      <p:pic>
        <p:nvPicPr>
          <p:cNvPr id="11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246120" y="5376672"/>
            <a:ext cx="365760" cy="365760"/>
          </a:xfrm>
          <a:prstGeom prst="rect">
            <a:avLst/>
          </a:prstGeom>
        </p:spPr>
      </p:pic>
      <p:sp>
        <p:nvSpPr>
          <p:cNvPr id="120" name="Text 90"/>
          <p:cNvSpPr/>
          <p:nvPr/>
        </p:nvSpPr>
        <p:spPr>
          <a:xfrm>
            <a:off x="3703320" y="525780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&amp; Augment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A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teams write better specs, code and tests faster</a:t>
            </a:r>
            <a:endParaRPr lang="en-US" sz="950" dirty="0"/>
          </a:p>
        </p:txBody>
      </p:sp>
      <p:sp>
        <p:nvSpPr>
          <p:cNvPr id="121" name="Shape 91"/>
          <p:cNvSpPr/>
          <p:nvPr/>
        </p:nvSpPr>
        <p:spPr>
          <a:xfrm>
            <a:off x="5943600" y="5477256"/>
            <a:ext cx="301752" cy="182880"/>
          </a:xfrm>
          <a:prstGeom prst="rightArrow">
            <a:avLst/>
          </a:prstGeom>
          <a:solidFill>
            <a:srgbClr val="6F4FC9"/>
          </a:solidFill>
          <a:ln w="12700">
            <a:solidFill>
              <a:srgbClr val="6F4FC9"/>
            </a:solidFill>
            <a:prstDash val="solid"/>
          </a:ln>
        </p:spPr>
      </p:sp>
      <p:pic>
        <p:nvPicPr>
          <p:cNvPr id="122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245352" y="5376672"/>
            <a:ext cx="365760" cy="365760"/>
          </a:xfrm>
          <a:prstGeom prst="rect">
            <a:avLst/>
          </a:prstGeom>
        </p:spPr>
      </p:pic>
      <p:sp>
        <p:nvSpPr>
          <p:cNvPr id="123" name="Text 92"/>
          <p:cNvSpPr/>
          <p:nvPr/>
        </p:nvSpPr>
        <p:spPr>
          <a:xfrm>
            <a:off x="6702552" y="525780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&amp; Accelerate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A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repetitive tasks and quality checks</a:t>
            </a:r>
            <a:endParaRPr lang="en-US" sz="950" dirty="0"/>
          </a:p>
        </p:txBody>
      </p:sp>
      <p:sp>
        <p:nvSpPr>
          <p:cNvPr id="124" name="Shape 93"/>
          <p:cNvSpPr/>
          <p:nvPr/>
        </p:nvSpPr>
        <p:spPr>
          <a:xfrm>
            <a:off x="8942832" y="5477256"/>
            <a:ext cx="301752" cy="182880"/>
          </a:xfrm>
          <a:prstGeom prst="rightArrow">
            <a:avLst/>
          </a:prstGeom>
          <a:solidFill>
            <a:srgbClr val="6F4FC9"/>
          </a:solidFill>
          <a:ln w="12700">
            <a:solidFill>
              <a:srgbClr val="6F4FC9"/>
            </a:solidFill>
            <a:prstDash val="solid"/>
          </a:ln>
        </p:spPr>
      </p:sp>
      <p:pic>
        <p:nvPicPr>
          <p:cNvPr id="125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244584" y="5376672"/>
            <a:ext cx="365760" cy="365760"/>
          </a:xfrm>
          <a:prstGeom prst="rect">
            <a:avLst/>
          </a:prstGeom>
        </p:spPr>
      </p:pic>
      <p:sp>
        <p:nvSpPr>
          <p:cNvPr id="126" name="Text 94"/>
          <p:cNvSpPr/>
          <p:nvPr/>
        </p:nvSpPr>
        <p:spPr>
          <a:xfrm>
            <a:off x="9701784" y="525780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 Improve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5A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impact, find bottlenecks and drive continuous improvement</a:t>
            </a:r>
            <a:endParaRPr lang="en-US" sz="950" dirty="0"/>
          </a:p>
        </p:txBody>
      </p:sp>
      <p:sp>
        <p:nvSpPr>
          <p:cNvPr id="127" name="Text 95"/>
          <p:cNvSpPr/>
          <p:nvPr/>
        </p:nvSpPr>
        <p:spPr>
          <a:xfrm>
            <a:off x="5394960" y="60076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pic>
        <p:nvPicPr>
          <p:cNvPr id="128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38328" y="6345936"/>
            <a:ext cx="292608" cy="292608"/>
          </a:xfrm>
          <a:prstGeom prst="rect">
            <a:avLst/>
          </a:prstGeom>
        </p:spPr>
      </p:pic>
      <p:sp>
        <p:nvSpPr>
          <p:cNvPr id="129" name="Text 96"/>
          <p:cNvSpPr/>
          <p:nvPr/>
        </p:nvSpPr>
        <p:spPr>
          <a:xfrm>
            <a:off x="704088" y="6300216"/>
            <a:ext cx="1522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850" dirty="0"/>
          </a:p>
        </p:txBody>
      </p:sp>
      <p:pic>
        <p:nvPicPr>
          <p:cNvPr id="130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318004" y="6345936"/>
            <a:ext cx="292608" cy="292608"/>
          </a:xfrm>
          <a:prstGeom prst="rect">
            <a:avLst/>
          </a:prstGeom>
        </p:spPr>
      </p:pic>
      <p:sp>
        <p:nvSpPr>
          <p:cNvPr id="131" name="Text 97"/>
          <p:cNvSpPr/>
          <p:nvPr/>
        </p:nvSpPr>
        <p:spPr>
          <a:xfrm>
            <a:off x="2683764" y="6300216"/>
            <a:ext cx="1522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Quality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Reliability</a:t>
            </a:r>
            <a:endParaRPr lang="en-US" sz="850" dirty="0"/>
          </a:p>
        </p:txBody>
      </p:sp>
      <p:pic>
        <p:nvPicPr>
          <p:cNvPr id="132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297680" y="6345936"/>
            <a:ext cx="292608" cy="292608"/>
          </a:xfrm>
          <a:prstGeom prst="rect">
            <a:avLst/>
          </a:prstGeom>
        </p:spPr>
      </p:pic>
      <p:sp>
        <p:nvSpPr>
          <p:cNvPr id="133" name="Text 98"/>
          <p:cNvSpPr/>
          <p:nvPr/>
        </p:nvSpPr>
        <p:spPr>
          <a:xfrm>
            <a:off x="4663440" y="6300216"/>
            <a:ext cx="1522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Confidence</a:t>
            </a:r>
            <a:endParaRPr lang="en-US" sz="850" dirty="0"/>
          </a:p>
        </p:txBody>
      </p:sp>
      <p:pic>
        <p:nvPicPr>
          <p:cNvPr id="134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277356" y="6345936"/>
            <a:ext cx="292608" cy="292608"/>
          </a:xfrm>
          <a:prstGeom prst="rect">
            <a:avLst/>
          </a:prstGeom>
        </p:spPr>
      </p:pic>
      <p:sp>
        <p:nvSpPr>
          <p:cNvPr id="135" name="Text 99"/>
          <p:cNvSpPr/>
          <p:nvPr/>
        </p:nvSpPr>
        <p:spPr>
          <a:xfrm>
            <a:off x="6643116" y="6300216"/>
            <a:ext cx="1522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Collaboration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Teams</a:t>
            </a:r>
            <a:endParaRPr lang="en-US" sz="850" dirty="0"/>
          </a:p>
        </p:txBody>
      </p:sp>
      <p:pic>
        <p:nvPicPr>
          <p:cNvPr id="1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257032" y="6345936"/>
            <a:ext cx="292608" cy="292608"/>
          </a:xfrm>
          <a:prstGeom prst="rect">
            <a:avLst/>
          </a:prstGeom>
        </p:spPr>
      </p:pic>
      <p:sp>
        <p:nvSpPr>
          <p:cNvPr id="137" name="Text 100"/>
          <p:cNvSpPr/>
          <p:nvPr/>
        </p:nvSpPr>
        <p:spPr>
          <a:xfrm>
            <a:off x="8622792" y="6300216"/>
            <a:ext cx="1522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Growth</a:t>
            </a:r>
            <a:endParaRPr lang="en-US" sz="850" dirty="0"/>
          </a:p>
        </p:txBody>
      </p:sp>
      <p:pic>
        <p:nvPicPr>
          <p:cNvPr id="138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236708" y="6345936"/>
            <a:ext cx="292608" cy="292608"/>
          </a:xfrm>
          <a:prstGeom prst="rect">
            <a:avLst/>
          </a:prstGeom>
        </p:spPr>
      </p:pic>
      <p:sp>
        <p:nvSpPr>
          <p:cNvPr id="139" name="Text 101"/>
          <p:cNvSpPr/>
          <p:nvPr/>
        </p:nvSpPr>
        <p:spPr>
          <a:xfrm>
            <a:off x="10602468" y="6300216"/>
            <a:ext cx="1522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Excellence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Phase - AI Adoption</dc:title>
  <dc:subject>PptxGenJS Presentation</dc:subject>
  <dc:creator>PptxGenJS</dc:creator>
  <cp:lastModifiedBy>PptxGenJS</cp:lastModifiedBy>
  <cp:revision>1</cp:revision>
  <dcterms:created xsi:type="dcterms:W3CDTF">2026-05-18T20:22:05Z</dcterms:created>
  <dcterms:modified xsi:type="dcterms:W3CDTF">2026-05-18T20:22:05Z</dcterms:modified>
</cp:coreProperties>
</file>
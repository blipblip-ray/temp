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phases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FA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78C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E7D3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44309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B43A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Req</c:v>
                </c:pt>
                <c:pt idx="1">
                  <c:v>Design</c:v>
                </c:pt>
                <c:pt idx="2">
                  <c:v>Dev</c:v>
                </c:pt>
                <c:pt idx="3">
                  <c:v>Test</c:v>
                </c:pt>
                <c:pt idx="4">
                  <c:v>Deploy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phases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FA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78C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E7D3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44309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B43A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Req</c:v>
                </c:pt>
                <c:pt idx="1">
                  <c:v>Design</c:v>
                </c:pt>
                <c:pt idx="2">
                  <c:v>Dev</c:v>
                </c:pt>
                <c:pt idx="3">
                  <c:v>Test</c:v>
                </c:pt>
                <c:pt idx="4">
                  <c:v>Deploy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phases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FA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78C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E7D3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44309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B43A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Req</c:v>
                </c:pt>
                <c:pt idx="1">
                  <c:v>Design</c:v>
                </c:pt>
                <c:pt idx="2">
                  <c:v>Dev</c:v>
                </c:pt>
                <c:pt idx="3">
                  <c:v>Test</c:v>
                </c:pt>
                <c:pt idx="4">
                  <c:v>Deploy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image" Target="../media/image-1-10.png"/><Relationship Id="rId12" Type="http://schemas.openxmlformats.org/officeDocument/2006/relationships/image" Target="../media/image-1-11.png"/><Relationship Id="rId13" Type="http://schemas.openxmlformats.org/officeDocument/2006/relationships/image" Target="../media/image-1-12.png"/><Relationship Id="rId14" Type="http://schemas.openxmlformats.org/officeDocument/2006/relationships/image" Target="../media/image-1-13.png"/><Relationship Id="rId15" Type="http://schemas.openxmlformats.org/officeDocument/2006/relationships/image" Target="../media/image-1-14.png"/><Relationship Id="rId16" Type="http://schemas.openxmlformats.org/officeDocument/2006/relationships/image" Target="../media/image-1-15.png"/><Relationship Id="rId17" Type="http://schemas.openxmlformats.org/officeDocument/2006/relationships/image" Target="../media/image-1-16.png"/><Relationship Id="rId18" Type="http://schemas.openxmlformats.org/officeDocument/2006/relationships/image" Target="../media/image-1-17.png"/><Relationship Id="rId19" Type="http://schemas.openxmlformats.org/officeDocument/2006/relationships/image" Target="../media/image-1-18.png"/><Relationship Id="rId20" Type="http://schemas.openxmlformats.org/officeDocument/2006/relationships/image" Target="../media/image-1-19.png"/><Relationship Id="rId21" Type="http://schemas.openxmlformats.org/officeDocument/2006/relationships/image" Target="../media/image-1-20.png"/><Relationship Id="rId22" Type="http://schemas.openxmlformats.org/officeDocument/2006/relationships/image" Target="../media/image-1-21.png"/><Relationship Id="rId23" Type="http://schemas.openxmlformats.org/officeDocument/2006/relationships/image" Target="../media/image-1-22.png"/><Relationship Id="rId24" Type="http://schemas.openxmlformats.org/officeDocument/2006/relationships/image" Target="../media/image-1-23.png"/><Relationship Id="rId25" Type="http://schemas.openxmlformats.org/officeDocument/2006/relationships/image" Target="../media/image-1-24.png"/><Relationship Id="rId26" Type="http://schemas.openxmlformats.org/officeDocument/2006/relationships/image" Target="../media/image-1-25.png"/><Relationship Id="rId27" Type="http://schemas.openxmlformats.org/officeDocument/2006/relationships/image" Target="../media/image-1-26.png"/><Relationship Id="rId28" Type="http://schemas.openxmlformats.org/officeDocument/2006/relationships/image" Target="../media/image-1-27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image" Target="../media/image-5-8.png"/><Relationship Id="rId10" Type="http://schemas.openxmlformats.org/officeDocument/2006/relationships/image" Target="../media/image-5-9.png"/><Relationship Id="rId11" Type="http://schemas.openxmlformats.org/officeDocument/2006/relationships/image" Target="../media/image-5-10.png"/><Relationship Id="rId12" Type="http://schemas.openxmlformats.org/officeDocument/2006/relationships/image" Target="../media/image-5-11.png"/><Relationship Id="rId13" Type="http://schemas.openxmlformats.org/officeDocument/2006/relationships/image" Target="../media/image-5-12.png"/><Relationship Id="rId14" Type="http://schemas.openxmlformats.org/officeDocument/2006/relationships/image" Target="../media/image-5-13.png"/><Relationship Id="rId15" Type="http://schemas.openxmlformats.org/officeDocument/2006/relationships/image" Target="../media/image-5-14.png"/><Relationship Id="rId16" Type="http://schemas.openxmlformats.org/officeDocument/2006/relationships/image" Target="../media/image-5-15.png"/><Relationship Id="rId17" Type="http://schemas.openxmlformats.org/officeDocument/2006/relationships/image" Target="../media/image-5-16.png"/><Relationship Id="rId18" Type="http://schemas.openxmlformats.org/officeDocument/2006/relationships/image" Target="../media/image-5-17.png"/><Relationship Id="rId19" Type="http://schemas.openxmlformats.org/officeDocument/2006/relationships/image" Target="../media/image-5-18.png"/><Relationship Id="rId20" Type="http://schemas.openxmlformats.org/officeDocument/2006/relationships/image" Target="../media/image-5-19.png"/><Relationship Id="rId21" Type="http://schemas.openxmlformats.org/officeDocument/2006/relationships/image" Target="../media/image-5-20.png"/><Relationship Id="rId22" Type="http://schemas.openxmlformats.org/officeDocument/2006/relationships/image" Target="../media/image-5-21.png"/><Relationship Id="rId23" Type="http://schemas.openxmlformats.org/officeDocument/2006/relationships/image" Target="../media/image-5-22.png"/><Relationship Id="rId24" Type="http://schemas.openxmlformats.org/officeDocument/2006/relationships/image" Target="../media/image-5-23.png"/><Relationship Id="rId25" Type="http://schemas.openxmlformats.org/officeDocument/2006/relationships/image" Target="../media/image-5-24.png"/><Relationship Id="rId26" Type="http://schemas.openxmlformats.org/officeDocument/2006/relationships/image" Target="../media/image-5-25.png"/><Relationship Id="rId27" Type="http://schemas.openxmlformats.org/officeDocument/2006/relationships/image" Target="../media/image-5-26.png"/><Relationship Id="rId28" Type="http://schemas.openxmlformats.org/officeDocument/2006/relationships/image" Target="../media/image-5-27.png"/><Relationship Id="rId29" Type="http://schemas.openxmlformats.org/officeDocument/2006/relationships/image" Target="../media/image-5-28.png"/><Relationship Id="rId30" Type="http://schemas.openxmlformats.org/officeDocument/2006/relationships/image" Target="../media/image-5-29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image" Target="../media/image-6-8.png"/><Relationship Id="rId10" Type="http://schemas.openxmlformats.org/officeDocument/2006/relationships/image" Target="../media/image-6-9.png"/><Relationship Id="rId11" Type="http://schemas.openxmlformats.org/officeDocument/2006/relationships/image" Target="../media/image-6-10.png"/><Relationship Id="rId12" Type="http://schemas.openxmlformats.org/officeDocument/2006/relationships/image" Target="../media/image-6-11.png"/><Relationship Id="rId13" Type="http://schemas.openxmlformats.org/officeDocument/2006/relationships/image" Target="../media/image-6-12.png"/><Relationship Id="rId14" Type="http://schemas.openxmlformats.org/officeDocument/2006/relationships/image" Target="../media/image-6-13.png"/><Relationship Id="rId15" Type="http://schemas.openxmlformats.org/officeDocument/2006/relationships/image" Target="../media/image-6-14.png"/><Relationship Id="rId16" Type="http://schemas.openxmlformats.org/officeDocument/2006/relationships/image" Target="../media/image-6-15.png"/><Relationship Id="rId17" Type="http://schemas.openxmlformats.org/officeDocument/2006/relationships/image" Target="../media/image-6-16.png"/><Relationship Id="rId18" Type="http://schemas.openxmlformats.org/officeDocument/2006/relationships/image" Target="../media/image-6-17.png"/><Relationship Id="rId19" Type="http://schemas.openxmlformats.org/officeDocument/2006/relationships/image" Target="../media/image-6-18.png"/><Relationship Id="rId20" Type="http://schemas.openxmlformats.org/officeDocument/2006/relationships/image" Target="../media/image-6-19.png"/><Relationship Id="rId21" Type="http://schemas.openxmlformats.org/officeDocument/2006/relationships/image" Target="../media/image-6-20.png"/><Relationship Id="rId22" Type="http://schemas.openxmlformats.org/officeDocument/2006/relationships/image" Target="../media/image-6-21.png"/><Relationship Id="rId23" Type="http://schemas.openxmlformats.org/officeDocument/2006/relationships/image" Target="../media/image-6-22.png"/><Relationship Id="rId24" Type="http://schemas.openxmlformats.org/officeDocument/2006/relationships/image" Target="../media/image-6-23.png"/><Relationship Id="rId25" Type="http://schemas.openxmlformats.org/officeDocument/2006/relationships/image" Target="../media/image-6-24.png"/><Relationship Id="rId26" Type="http://schemas.openxmlformats.org/officeDocument/2006/relationships/image" Target="../media/image-6-25.png"/><Relationship Id="rId27" Type="http://schemas.openxmlformats.org/officeDocument/2006/relationships/image" Target="../media/image-6-26.png"/><Relationship Id="rId28" Type="http://schemas.openxmlformats.org/officeDocument/2006/relationships/image" Target="../media/image-6-27.png"/><Relationship Id="rId29" Type="http://schemas.openxmlformats.org/officeDocument/2006/relationships/image" Target="../media/image-6-28.png"/><Relationship Id="rId30" Type="http://schemas.openxmlformats.org/officeDocument/2006/relationships/image" Target="../media/image-6-29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10896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8869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MDM – AI in SDLC  |  Workshop Update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51560" y="841248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AI-powered transformation across the SDLC for faster delivery and greater impact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0561320" y="237744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10881360" y="55778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0561320" y="237744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274320" y="1243584"/>
            <a:ext cx="6903720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60920" y="1243584"/>
            <a:ext cx="4526280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1243584"/>
            <a:ext cx="6903720" cy="457200"/>
          </a:xfrm>
          <a:prstGeom prst="roundRect">
            <a:avLst>
              <a:gd name="adj" fmla="val 14000"/>
            </a:avLst>
          </a:prstGeom>
          <a:solidFill>
            <a:srgbClr val="0F1E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4416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" y="1243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0512"/>
            <a:ext cx="210312" cy="210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" y="17465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end-to-end AI in SDLC demo aligned to 60-day plan (Requirements → Deployment)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286000"/>
            <a:ext cx="210312" cy="2103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22219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Showcased Rovo &amp; GitHub Copilot agents across BRD, LLD, Dev, Test, and Deployment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2761488"/>
            <a:ext cx="210312" cy="21031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944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BRD generation from meeting transcripts (Store Order Cycle use case)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3236976"/>
            <a:ext cx="210312" cy="21031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4944" y="31729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strong engagement from Product (Roopali Revenkar &amp; PO Team) and Engineering</a:t>
            </a:r>
            <a:endParaRPr lang="en-US" sz="900" dirty="0"/>
          </a:p>
        </p:txBody>
      </p:sp>
      <p:sp>
        <p:nvSpPr>
          <p:cNvPr id="21" name="Shape 12"/>
          <p:cNvSpPr/>
          <p:nvPr/>
        </p:nvSpPr>
        <p:spPr>
          <a:xfrm>
            <a:off x="3730752" y="1773936"/>
            <a:ext cx="3291840" cy="210312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3730752" y="182880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in SDLC Demo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3895344" y="2157984"/>
            <a:ext cx="365760" cy="36576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5811" y="2238451"/>
            <a:ext cx="204826" cy="20482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21608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620" dirty="0"/>
          </a:p>
        </p:txBody>
      </p:sp>
      <p:sp>
        <p:nvSpPr>
          <p:cNvPr id="26" name="Shape 16"/>
          <p:cNvSpPr/>
          <p:nvPr/>
        </p:nvSpPr>
        <p:spPr>
          <a:xfrm>
            <a:off x="4320540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27" name="Shape 17"/>
          <p:cNvSpPr/>
          <p:nvPr/>
        </p:nvSpPr>
        <p:spPr>
          <a:xfrm>
            <a:off x="4544568" y="2157984"/>
            <a:ext cx="365760" cy="365760"/>
          </a:xfrm>
          <a:prstGeom prst="ellipse">
            <a:avLst/>
          </a:prstGeom>
          <a:solidFill>
            <a:srgbClr val="E2F1F2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5035" y="2238451"/>
            <a:ext cx="204826" cy="20482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370832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620" dirty="0"/>
          </a:p>
        </p:txBody>
      </p:sp>
      <p:sp>
        <p:nvSpPr>
          <p:cNvPr id="30" name="Shape 19"/>
          <p:cNvSpPr/>
          <p:nvPr/>
        </p:nvSpPr>
        <p:spPr>
          <a:xfrm>
            <a:off x="4969764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31" name="Shape 20"/>
          <p:cNvSpPr/>
          <p:nvPr/>
        </p:nvSpPr>
        <p:spPr>
          <a:xfrm>
            <a:off x="5193792" y="2157984"/>
            <a:ext cx="365760" cy="36576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4259" y="2238451"/>
            <a:ext cx="204826" cy="20482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020056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620" dirty="0"/>
          </a:p>
        </p:txBody>
      </p:sp>
      <p:sp>
        <p:nvSpPr>
          <p:cNvPr id="34" name="Shape 22"/>
          <p:cNvSpPr/>
          <p:nvPr/>
        </p:nvSpPr>
        <p:spPr>
          <a:xfrm>
            <a:off x="5618988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35" name="Shape 23"/>
          <p:cNvSpPr/>
          <p:nvPr/>
        </p:nvSpPr>
        <p:spPr>
          <a:xfrm>
            <a:off x="5843016" y="2157984"/>
            <a:ext cx="365760" cy="365760"/>
          </a:xfrm>
          <a:prstGeom prst="ellipse">
            <a:avLst/>
          </a:prstGeom>
          <a:solidFill>
            <a:srgbClr val="EEEAF7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3483" y="2238451"/>
            <a:ext cx="204826" cy="204826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669280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620" dirty="0"/>
          </a:p>
        </p:txBody>
      </p:sp>
      <p:sp>
        <p:nvSpPr>
          <p:cNvPr id="38" name="Shape 25"/>
          <p:cNvSpPr/>
          <p:nvPr/>
        </p:nvSpPr>
        <p:spPr>
          <a:xfrm>
            <a:off x="6268212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39" name="Shape 26"/>
          <p:cNvSpPr/>
          <p:nvPr/>
        </p:nvSpPr>
        <p:spPr>
          <a:xfrm>
            <a:off x="6492240" y="2157984"/>
            <a:ext cx="365760" cy="365760"/>
          </a:xfrm>
          <a:prstGeom prst="ellipse">
            <a:avLst/>
          </a:prstGeom>
          <a:solidFill>
            <a:srgbClr val="E5F4E7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707" y="2238451"/>
            <a:ext cx="204826" cy="204826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318504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620" dirty="0"/>
          </a:p>
        </p:txBody>
      </p:sp>
      <p:sp>
        <p:nvSpPr>
          <p:cNvPr id="42" name="Shape 28"/>
          <p:cNvSpPr/>
          <p:nvPr/>
        </p:nvSpPr>
        <p:spPr>
          <a:xfrm>
            <a:off x="3913632" y="2926080"/>
            <a:ext cx="292608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43" name="Text 29"/>
          <p:cNvSpPr/>
          <p:nvPr/>
        </p:nvSpPr>
        <p:spPr>
          <a:xfrm>
            <a:off x="3730752" y="29626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Action</a:t>
            </a:r>
            <a:endParaRPr lang="en-US" sz="950" dirty="0"/>
          </a:p>
        </p:txBody>
      </p:sp>
      <p:sp>
        <p:nvSpPr>
          <p:cNvPr id="44" name="Shape 30"/>
          <p:cNvSpPr/>
          <p:nvPr/>
        </p:nvSpPr>
        <p:spPr>
          <a:xfrm rot="5400000">
            <a:off x="4114800" y="3218688"/>
            <a:ext cx="274320" cy="274320"/>
          </a:xfrm>
          <a:prstGeom prst="hexagon">
            <a:avLst/>
          </a:prstGeom>
          <a:solidFill>
            <a:srgbClr val="2E5FAE"/>
          </a:solidFill>
          <a:ln/>
        </p:spPr>
      </p:sp>
      <p:sp>
        <p:nvSpPr>
          <p:cNvPr id="45" name="Shape 31"/>
          <p:cNvSpPr/>
          <p:nvPr/>
        </p:nvSpPr>
        <p:spPr>
          <a:xfrm rot="5400000">
            <a:off x="4175150" y="3279038"/>
            <a:ext cx="153619" cy="153619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46" name="Text 32"/>
          <p:cNvSpPr/>
          <p:nvPr/>
        </p:nvSpPr>
        <p:spPr>
          <a:xfrm>
            <a:off x="4443984" y="3218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</a:t>
            </a:r>
            <a:endParaRPr lang="en-US" sz="1000" dirty="0"/>
          </a:p>
        </p:txBody>
      </p:sp>
      <p:sp>
        <p:nvSpPr>
          <p:cNvPr id="47" name="Text 33"/>
          <p:cNvSpPr/>
          <p:nvPr/>
        </p:nvSpPr>
        <p:spPr>
          <a:xfrm>
            <a:off x="3877056" y="35112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Knowledge Agent</a:t>
            </a:r>
            <a:endParaRPr lang="en-US" sz="65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0" y="3209544"/>
            <a:ext cx="292608" cy="292608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833872" y="3218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50" name="Text 35"/>
          <p:cNvSpPr/>
          <p:nvPr/>
        </p:nvSpPr>
        <p:spPr>
          <a:xfrm>
            <a:off x="5413248" y="3511296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Programmer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Automation Agent</a:t>
            </a:r>
            <a:endParaRPr lang="en-US" sz="650" dirty="0"/>
          </a:p>
        </p:txBody>
      </p:sp>
      <p:sp>
        <p:nvSpPr>
          <p:cNvPr id="51" name="Shape 36"/>
          <p:cNvSpPr/>
          <p:nvPr/>
        </p:nvSpPr>
        <p:spPr>
          <a:xfrm>
            <a:off x="7360920" y="1243584"/>
            <a:ext cx="4526280" cy="457200"/>
          </a:xfrm>
          <a:prstGeom prst="roundRect">
            <a:avLst>
              <a:gd name="adj" fmla="val 14000"/>
            </a:avLst>
          </a:prstGeom>
          <a:solidFill>
            <a:srgbClr val="0F1E5B"/>
          </a:solidFill>
          <a:ln/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2088" y="1353312"/>
            <a:ext cx="246888" cy="24688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7927848" y="1243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54" name="Shape 38"/>
          <p:cNvSpPr/>
          <p:nvPr/>
        </p:nvSpPr>
        <p:spPr>
          <a:xfrm>
            <a:off x="7525512" y="1883664"/>
            <a:ext cx="384048" cy="384048"/>
          </a:xfrm>
          <a:prstGeom prst="ellipse">
            <a:avLst/>
          </a:prstGeom>
          <a:solidFill>
            <a:srgbClr val="E2F1F2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1923" y="1970075"/>
            <a:ext cx="211226" cy="211226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8037576" y="181051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practical AI adoption across SDLC lifecycle</a:t>
            </a:r>
            <a:endParaRPr lang="en-US" sz="1100" dirty="0"/>
          </a:p>
        </p:txBody>
      </p:sp>
      <p:sp>
        <p:nvSpPr>
          <p:cNvPr id="57" name="Shape 40"/>
          <p:cNvSpPr/>
          <p:nvPr/>
        </p:nvSpPr>
        <p:spPr>
          <a:xfrm>
            <a:off x="7543800" y="2414016"/>
            <a:ext cx="416052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58" name="Shape 41"/>
          <p:cNvSpPr/>
          <p:nvPr/>
        </p:nvSpPr>
        <p:spPr>
          <a:xfrm>
            <a:off x="7525512" y="2487168"/>
            <a:ext cx="384048" cy="384048"/>
          </a:xfrm>
          <a:prstGeom prst="ellipse">
            <a:avLst/>
          </a:prstGeom>
          <a:solidFill>
            <a:srgbClr val="E5F4E7"/>
          </a:solidFill>
          <a:ln/>
        </p:spPr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1923" y="2573579"/>
            <a:ext cx="211226" cy="211226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8037576" y="2414016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requirements-to-deployment cycle via automation</a:t>
            </a:r>
            <a:endParaRPr lang="en-US" sz="1100" dirty="0"/>
          </a:p>
        </p:txBody>
      </p:sp>
      <p:sp>
        <p:nvSpPr>
          <p:cNvPr id="61" name="Shape 43"/>
          <p:cNvSpPr/>
          <p:nvPr/>
        </p:nvSpPr>
        <p:spPr>
          <a:xfrm>
            <a:off x="7543800" y="3017520"/>
            <a:ext cx="416052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62" name="Shape 44"/>
          <p:cNvSpPr/>
          <p:nvPr/>
        </p:nvSpPr>
        <p:spPr>
          <a:xfrm>
            <a:off x="7525512" y="3090672"/>
            <a:ext cx="384048" cy="384048"/>
          </a:xfrm>
          <a:prstGeom prst="ellipse">
            <a:avLst/>
          </a:prstGeom>
          <a:solidFill>
            <a:srgbClr val="EEEAF7"/>
          </a:solidFill>
          <a:ln/>
        </p:spPr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11923" y="3177083"/>
            <a:ext cx="211226" cy="211226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8037576" y="301752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confidence for scaled adoption across Supply Chain domains</a:t>
            </a:r>
            <a:endParaRPr lang="en-US" sz="1100" dirty="0"/>
          </a:p>
        </p:txBody>
      </p:sp>
      <p:sp>
        <p:nvSpPr>
          <p:cNvPr id="65" name="Shape 46"/>
          <p:cNvSpPr/>
          <p:nvPr/>
        </p:nvSpPr>
        <p:spPr>
          <a:xfrm>
            <a:off x="274320" y="4142232"/>
            <a:ext cx="1161288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4069080" y="3950208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0F1E5B"/>
          </a:solidFill>
          <a:ln/>
        </p:spPr>
      </p:sp>
      <p:sp>
        <p:nvSpPr>
          <p:cNvPr id="67" name="Text 48"/>
          <p:cNvSpPr/>
          <p:nvPr/>
        </p:nvSpPr>
        <p:spPr>
          <a:xfrm>
            <a:off x="4069080" y="39502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Next Steps</a:t>
            </a:r>
            <a:endParaRPr lang="en-US" sz="1400" dirty="0"/>
          </a:p>
        </p:txBody>
      </p:sp>
      <p:sp>
        <p:nvSpPr>
          <p:cNvPr id="68" name="Shape 49"/>
          <p:cNvSpPr/>
          <p:nvPr/>
        </p:nvSpPr>
        <p:spPr>
          <a:xfrm>
            <a:off x="274320" y="449884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0F8F2"/>
          </a:solidFill>
          <a:ln w="12700">
            <a:solidFill>
              <a:srgbClr val="BFE3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69" name="Shape 50"/>
          <p:cNvSpPr/>
          <p:nvPr/>
        </p:nvSpPr>
        <p:spPr>
          <a:xfrm>
            <a:off x="420624" y="4626864"/>
            <a:ext cx="384048" cy="384048"/>
          </a:xfrm>
          <a:prstGeom prst="ellipse">
            <a:avLst/>
          </a:prstGeom>
          <a:solidFill>
            <a:srgbClr val="2E9E4B"/>
          </a:solidFill>
          <a:ln/>
        </p:spPr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7035" y="4713275"/>
            <a:ext cx="211226" cy="211226"/>
          </a:xfrm>
          <a:prstGeom prst="rect">
            <a:avLst/>
          </a:prstGeom>
        </p:spPr>
      </p:pic>
      <p:sp>
        <p:nvSpPr>
          <p:cNvPr id="71" name="Text 51"/>
          <p:cNvSpPr/>
          <p:nvPr/>
        </p:nvSpPr>
        <p:spPr>
          <a:xfrm>
            <a:off x="877824" y="4608576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Team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(Roopali Revenkar &amp; PO Team)</a:t>
            </a:r>
            <a:endParaRPr lang="en-US" sz="1150" dirty="0"/>
          </a:p>
        </p:txBody>
      </p:sp>
      <p:sp>
        <p:nvSpPr>
          <p:cNvPr id="72" name="Text 52"/>
          <p:cNvSpPr/>
          <p:nvPr/>
        </p:nvSpPr>
        <p:spPr>
          <a:xfrm>
            <a:off x="438912" y="5102352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use cases: BRD from process maps, legacy docs, emails, chats, Confluence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Elizabeth Rout &amp; Chinmayee N to run agent design sessions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BRD templates &amp; input/output standardisation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process maps in Miro</a:t>
            </a:r>
            <a:endParaRPr lang="en-US" sz="840" dirty="0"/>
          </a:p>
        </p:txBody>
      </p:sp>
      <p:pic>
        <p:nvPicPr>
          <p:cNvPr id="73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10712" y="5687568"/>
            <a:ext cx="384048" cy="310896"/>
          </a:xfrm>
          <a:prstGeom prst="rect">
            <a:avLst/>
          </a:prstGeom>
        </p:spPr>
      </p:pic>
      <p:sp>
        <p:nvSpPr>
          <p:cNvPr id="74" name="Shape 53"/>
          <p:cNvSpPr/>
          <p:nvPr/>
        </p:nvSpPr>
        <p:spPr>
          <a:xfrm>
            <a:off x="4160520" y="449884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EEF4FC"/>
          </a:solidFill>
          <a:ln w="12700">
            <a:solidFill>
              <a:srgbClr val="C2D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75" name="Shape 54"/>
          <p:cNvSpPr/>
          <p:nvPr/>
        </p:nvSpPr>
        <p:spPr>
          <a:xfrm>
            <a:off x="4306824" y="4626864"/>
            <a:ext cx="384048" cy="384048"/>
          </a:xfrm>
          <a:prstGeom prst="ellipse">
            <a:avLst/>
          </a:prstGeom>
          <a:solidFill>
            <a:srgbClr val="2E5FAE"/>
          </a:solidFill>
          <a:ln/>
        </p:spPr>
      </p:sp>
      <p:pic>
        <p:nvPicPr>
          <p:cNvPr id="76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93235" y="4713275"/>
            <a:ext cx="211226" cy="211226"/>
          </a:xfrm>
          <a:prstGeom prst="rect">
            <a:avLst/>
          </a:prstGeom>
        </p:spPr>
      </p:pic>
      <p:sp>
        <p:nvSpPr>
          <p:cNvPr id="77" name="Text 55"/>
          <p:cNvSpPr/>
          <p:nvPr/>
        </p:nvSpPr>
        <p:spPr>
          <a:xfrm>
            <a:off x="4764024" y="4608576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Engineering Leadership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(Chris Armstrong)</a:t>
            </a:r>
            <a:endParaRPr lang="en-US" sz="1150" dirty="0"/>
          </a:p>
        </p:txBody>
      </p:sp>
      <p:sp>
        <p:nvSpPr>
          <p:cNvPr id="78" name="Text 56"/>
          <p:cNvSpPr/>
          <p:nvPr/>
        </p:nvSpPr>
        <p:spPr>
          <a:xfrm>
            <a:off x="4325112" y="5102352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phase-wise deep dive sessions (Req → Deploy)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TCS AI Team (external to MDM) to deliver end-to-end demos</a:t>
            </a:r>
            <a:endParaRPr lang="en-US" sz="840" dirty="0"/>
          </a:p>
        </p:txBody>
      </p:sp>
      <p:sp>
        <p:nvSpPr>
          <p:cNvPr id="79" name="Shape 57"/>
          <p:cNvSpPr/>
          <p:nvPr/>
        </p:nvSpPr>
        <p:spPr>
          <a:xfrm>
            <a:off x="8046720" y="4498848"/>
            <a:ext cx="3840480" cy="1572768"/>
          </a:xfrm>
          <a:prstGeom prst="roundRect">
            <a:avLst>
              <a:gd name="adj" fmla="val 4070"/>
            </a:avLst>
          </a:prstGeom>
          <a:solidFill>
            <a:srgbClr val="F2EFFA"/>
          </a:solidFill>
          <a:ln w="12700">
            <a:solidFill>
              <a:srgbClr val="D5CC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80" name="Shape 58"/>
          <p:cNvSpPr/>
          <p:nvPr/>
        </p:nvSpPr>
        <p:spPr>
          <a:xfrm>
            <a:off x="8193024" y="4626864"/>
            <a:ext cx="384048" cy="384048"/>
          </a:xfrm>
          <a:prstGeom prst="ellipse">
            <a:avLst/>
          </a:prstGeom>
          <a:solidFill>
            <a:srgbClr val="44309A"/>
          </a:solidFill>
          <a:ln/>
        </p:spPr>
      </p:sp>
      <p:pic>
        <p:nvPicPr>
          <p:cNvPr id="8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79435" y="4713275"/>
            <a:ext cx="211226" cy="211226"/>
          </a:xfrm>
          <a:prstGeom prst="rect">
            <a:avLst/>
          </a:prstGeom>
        </p:spPr>
      </p:pic>
      <p:sp>
        <p:nvSpPr>
          <p:cNvPr id="82" name="Text 59"/>
          <p:cNvSpPr/>
          <p:nvPr/>
        </p:nvSpPr>
        <p:spPr>
          <a:xfrm>
            <a:off x="8650224" y="4608576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Leadership Enablement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 &amp; HOEs)</a:t>
            </a:r>
            <a:endParaRPr lang="en-US" sz="1150" dirty="0"/>
          </a:p>
        </p:txBody>
      </p:sp>
      <p:sp>
        <p:nvSpPr>
          <p:cNvPr id="83" name="Text 60"/>
          <p:cNvSpPr/>
          <p:nvPr/>
        </p:nvSpPr>
        <p:spPr>
          <a:xfrm>
            <a:off x="8211312" y="5102352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demo sessions to build adoption confidence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training, guidelines, code quality, security checks &amp; productivity metrics</a:t>
            </a:r>
            <a:endParaRPr lang="en-US" sz="840" dirty="0"/>
          </a:p>
        </p:txBody>
      </p:sp>
      <p:pic>
        <p:nvPicPr>
          <p:cNvPr id="84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04704" y="5687568"/>
            <a:ext cx="274320" cy="274320"/>
          </a:xfrm>
          <a:prstGeom prst="rect">
            <a:avLst/>
          </a:prstGeom>
        </p:spPr>
      </p:pic>
      <p:pic>
        <p:nvPicPr>
          <p:cNvPr id="85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25328" y="5687568"/>
            <a:ext cx="274320" cy="274320"/>
          </a:xfrm>
          <a:prstGeom prst="rect">
            <a:avLst/>
          </a:prstGeom>
        </p:spPr>
      </p:pic>
      <p:pic>
        <p:nvPicPr>
          <p:cNvPr id="86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45952" y="5687568"/>
            <a:ext cx="274320" cy="274320"/>
          </a:xfrm>
          <a:prstGeom prst="rect">
            <a:avLst/>
          </a:prstGeom>
        </p:spPr>
      </p:pic>
      <p:pic>
        <p:nvPicPr>
          <p:cNvPr id="87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466576" y="5687568"/>
            <a:ext cx="274320" cy="274320"/>
          </a:xfrm>
          <a:prstGeom prst="rect">
            <a:avLst/>
          </a:prstGeom>
        </p:spPr>
      </p:pic>
      <p:sp>
        <p:nvSpPr>
          <p:cNvPr id="88" name="Shape 61"/>
          <p:cNvSpPr/>
          <p:nvPr/>
        </p:nvSpPr>
        <p:spPr>
          <a:xfrm>
            <a:off x="274320" y="6199632"/>
            <a:ext cx="11612880" cy="457200"/>
          </a:xfrm>
          <a:prstGeom prst="roundRect">
            <a:avLst>
              <a:gd name="adj" fmla="val 16000"/>
            </a:avLst>
          </a:prstGeom>
          <a:solidFill>
            <a:srgbClr val="FBF2D4"/>
          </a:solidFill>
          <a:ln w="12700">
            <a:solidFill>
              <a:srgbClr val="EAD79A"/>
            </a:solidFill>
            <a:prstDash val="solid"/>
          </a:ln>
        </p:spPr>
      </p:sp>
      <p:sp>
        <p:nvSpPr>
          <p:cNvPr id="89" name="Shape 62"/>
          <p:cNvSpPr/>
          <p:nvPr/>
        </p:nvSpPr>
        <p:spPr>
          <a:xfrm>
            <a:off x="457200" y="6281928"/>
            <a:ext cx="292608" cy="292608"/>
          </a:xfrm>
          <a:prstGeom prst="ellipse">
            <a:avLst/>
          </a:prstGeom>
          <a:solidFill>
            <a:srgbClr val="0F1E5B"/>
          </a:solidFill>
          <a:ln/>
        </p:spPr>
      </p:sp>
      <p:pic>
        <p:nvPicPr>
          <p:cNvPr id="90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3037" y="6347765"/>
            <a:ext cx="160934" cy="160934"/>
          </a:xfrm>
          <a:prstGeom prst="rect">
            <a:avLst/>
          </a:prstGeom>
        </p:spPr>
      </p:pic>
      <p:sp>
        <p:nvSpPr>
          <p:cNvPr id="91" name="Text 63"/>
          <p:cNvSpPr/>
          <p:nvPr/>
        </p:nvSpPr>
        <p:spPr>
          <a:xfrm>
            <a:off x="841248" y="6199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Ask</a:t>
            </a:r>
            <a:endParaRPr lang="en-US" sz="1250" dirty="0"/>
          </a:p>
        </p:txBody>
      </p:sp>
      <p:sp>
        <p:nvSpPr>
          <p:cNvPr id="92" name="Shape 64"/>
          <p:cNvSpPr/>
          <p:nvPr/>
        </p:nvSpPr>
        <p:spPr>
          <a:xfrm>
            <a:off x="2331720" y="6291072"/>
            <a:ext cx="0" cy="274320"/>
          </a:xfrm>
          <a:prstGeom prst="line">
            <a:avLst/>
          </a:prstGeom>
          <a:noFill/>
          <a:ln w="12700">
            <a:solidFill>
              <a:srgbClr val="C9B976"/>
            </a:solidFill>
            <a:prstDash val="solid"/>
          </a:ln>
        </p:spPr>
      </p:sp>
      <p:sp>
        <p:nvSpPr>
          <p:cNvPr id="93" name="Text 65"/>
          <p:cNvSpPr/>
          <p:nvPr/>
        </p:nvSpPr>
        <p:spPr>
          <a:xfrm>
            <a:off x="2487168" y="61996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Rout / Chinmayee N to align with Roopali Revenkar &amp; Chris Armstrong on availability and scheduling of next workshops &amp; adoption roadmap.</a:t>
            </a:r>
            <a:endParaRPr lang="en-US" sz="950" dirty="0"/>
          </a:p>
        </p:txBody>
      </p:sp>
      <p:pic>
        <p:nvPicPr>
          <p:cNvPr id="94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30000" y="6291072"/>
            <a:ext cx="292608" cy="274320"/>
          </a:xfrm>
          <a:prstGeom prst="rect">
            <a:avLst/>
          </a:prstGeom>
        </p:spPr>
      </p:pic>
      <p:sp>
        <p:nvSpPr>
          <p:cNvPr id="95" name="Shape 66"/>
          <p:cNvSpPr/>
          <p:nvPr/>
        </p:nvSpPr>
        <p:spPr>
          <a:xfrm>
            <a:off x="457200" y="6693408"/>
            <a:ext cx="1828800" cy="0"/>
          </a:xfrm>
          <a:prstGeom prst="line">
            <a:avLst/>
          </a:prstGeom>
          <a:noFill/>
          <a:ln w="12700">
            <a:solidFill>
              <a:srgbClr val="0F1E5B"/>
            </a:solidFill>
            <a:prstDash val="solid"/>
          </a:ln>
        </p:spPr>
      </p:sp>
      <p:sp>
        <p:nvSpPr>
          <p:cNvPr id="96" name="Shape 67"/>
          <p:cNvSpPr/>
          <p:nvPr/>
        </p:nvSpPr>
        <p:spPr>
          <a:xfrm>
            <a:off x="9875520" y="6693408"/>
            <a:ext cx="1828800" cy="0"/>
          </a:xfrm>
          <a:prstGeom prst="line">
            <a:avLst/>
          </a:prstGeom>
          <a:noFill/>
          <a:ln w="12700">
            <a:solidFill>
              <a:srgbClr val="0F1E5B"/>
            </a:solidFill>
            <a:prstDash val="solid"/>
          </a:ln>
        </p:spPr>
      </p:sp>
      <p:sp>
        <p:nvSpPr>
          <p:cNvPr id="97" name="Shape 68"/>
          <p:cNvSpPr/>
          <p:nvPr/>
        </p:nvSpPr>
        <p:spPr>
          <a:xfrm>
            <a:off x="2377440" y="6583680"/>
            <a:ext cx="256032" cy="256032"/>
          </a:xfrm>
          <a:prstGeom prst="ellipse">
            <a:avLst/>
          </a:prstGeom>
          <a:solidFill>
            <a:srgbClr val="0F1E5B"/>
          </a:solidFill>
          <a:ln/>
        </p:spPr>
      </p:sp>
      <p:pic>
        <p:nvPicPr>
          <p:cNvPr id="9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435047" y="6641287"/>
            <a:ext cx="140818" cy="140818"/>
          </a:xfrm>
          <a:prstGeom prst="rect">
            <a:avLst/>
          </a:prstGeom>
        </p:spPr>
      </p:pic>
      <p:sp>
        <p:nvSpPr>
          <p:cNvPr id="99" name="Text 69"/>
          <p:cNvSpPr/>
          <p:nvPr/>
        </p:nvSpPr>
        <p:spPr>
          <a:xfrm>
            <a:off x="274320" y="6547104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let’s accelerate AI adoption and deliver greater value across Supply Chain MDM!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73152"/>
            <a:ext cx="11978640" cy="6711696"/>
          </a:xfrm>
          <a:prstGeom prst="roundRect">
            <a:avLst>
              <a:gd name="adj" fmla="val 817"/>
            </a:avLst>
          </a:prstGeom>
          <a:ln w="12700">
            <a:solidFill>
              <a:srgbClr val="D9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46304"/>
            <a:ext cx="11612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SDLC - Supply Chain - Master Data Management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227478" cy="499262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227478" cy="566928"/>
          </a:xfrm>
          <a:prstGeom prst="roundRect">
            <a:avLst>
              <a:gd name="adj" fmla="val 12903"/>
            </a:avLst>
          </a:prstGeom>
          <a:solidFill>
            <a:srgbClr val="2E5FA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42416"/>
            <a:ext cx="2227478" cy="274320"/>
          </a:xfrm>
          <a:prstGeom prst="rect">
            <a:avLst/>
          </a:prstGeom>
          <a:solidFill>
            <a:srgbClr val="2E5FAE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841248"/>
            <a:ext cx="384048" cy="384048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035" y="927659"/>
            <a:ext cx="211226" cy="2112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786384"/>
            <a:ext cx="15873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PHASE</a:t>
            </a:r>
            <a:endParaRPr lang="en-US" sz="11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ROVO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" y="1408176"/>
            <a:ext cx="1898294" cy="237744"/>
          </a:xfrm>
          <a:prstGeom prst="roundRect">
            <a:avLst>
              <a:gd name="adj" fmla="val 19231"/>
            </a:avLst>
          </a:prstGeom>
          <a:solidFill>
            <a:srgbClr val="EAF1FB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" y="1408176"/>
            <a:ext cx="18982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4320" y="1664208"/>
            <a:ext cx="22274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Conversations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" y="1901952"/>
            <a:ext cx="274320" cy="27432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99" y="1901952"/>
            <a:ext cx="274320" cy="27432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387" y="190195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5760" y="2231136"/>
            <a:ext cx="20445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(Chats, Meetings, Notes, Decisions)</a:t>
            </a:r>
            <a:endParaRPr lang="en-US" sz="730" dirty="0"/>
          </a:p>
        </p:txBody>
      </p:sp>
      <p:sp>
        <p:nvSpPr>
          <p:cNvPr id="17" name="Shape 11"/>
          <p:cNvSpPr/>
          <p:nvPr/>
        </p:nvSpPr>
        <p:spPr>
          <a:xfrm>
            <a:off x="438912" y="257860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18" name="Text 12"/>
          <p:cNvSpPr/>
          <p:nvPr/>
        </p:nvSpPr>
        <p:spPr>
          <a:xfrm>
            <a:off x="274320" y="2615184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 rot="5400000">
            <a:off x="798271" y="2889504"/>
            <a:ext cx="310896" cy="310896"/>
          </a:xfrm>
          <a:prstGeom prst="hexagon">
            <a:avLst/>
          </a:prstGeom>
          <a:solidFill>
            <a:srgbClr val="2E5FAE"/>
          </a:solidFill>
          <a:ln/>
        </p:spPr>
      </p:sp>
      <p:sp>
        <p:nvSpPr>
          <p:cNvPr id="20" name="Shape 14"/>
          <p:cNvSpPr/>
          <p:nvPr/>
        </p:nvSpPr>
        <p:spPr>
          <a:xfrm rot="5400000">
            <a:off x="866668" y="2957901"/>
            <a:ext cx="174102" cy="174102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1182319" y="28529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8640" y="3419856"/>
            <a:ext cx="177027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Generation</a:t>
            </a:r>
            <a:endParaRPr lang="en-US" sz="1000" dirty="0"/>
          </a:p>
          <a:p>
            <a:pPr marL="177800" indent="-1778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Story Creation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8912" y="472744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24" name="Text 18"/>
          <p:cNvSpPr/>
          <p:nvPr/>
        </p:nvSpPr>
        <p:spPr>
          <a:xfrm>
            <a:off x="274320" y="4773168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504748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11480" y="5413248"/>
            <a:ext cx="97657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</a:t>
            </a:r>
            <a:endParaRPr lang="en-US" sz="8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1757" y="5047488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88059" y="5413248"/>
            <a:ext cx="97657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Stories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2620670" y="749808"/>
            <a:ext cx="2227478" cy="499262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2620670" y="749808"/>
            <a:ext cx="2227478" cy="566928"/>
          </a:xfrm>
          <a:prstGeom prst="roundRect">
            <a:avLst>
              <a:gd name="adj" fmla="val 12903"/>
            </a:avLst>
          </a:prstGeom>
          <a:solidFill>
            <a:srgbClr val="3A78C8"/>
          </a:solidFill>
          <a:ln/>
        </p:spPr>
      </p:sp>
      <p:sp>
        <p:nvSpPr>
          <p:cNvPr id="31" name="Shape 23"/>
          <p:cNvSpPr/>
          <p:nvPr/>
        </p:nvSpPr>
        <p:spPr>
          <a:xfrm>
            <a:off x="2620670" y="1042416"/>
            <a:ext cx="2227478" cy="274320"/>
          </a:xfrm>
          <a:prstGeom prst="rect">
            <a:avLst/>
          </a:prstGeom>
          <a:solidFill>
            <a:srgbClr val="3A78C8"/>
          </a:solidFill>
          <a:ln/>
        </p:spPr>
      </p:sp>
      <p:sp>
        <p:nvSpPr>
          <p:cNvPr id="32" name="Shape 24"/>
          <p:cNvSpPr/>
          <p:nvPr/>
        </p:nvSpPr>
        <p:spPr>
          <a:xfrm>
            <a:off x="2766974" y="841248"/>
            <a:ext cx="384048" cy="384048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3385" y="927659"/>
            <a:ext cx="211226" cy="21122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187598" y="786384"/>
            <a:ext cx="15873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</a:t>
            </a:r>
            <a:endParaRPr lang="en-US" sz="11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ROVO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2785262" y="1408176"/>
            <a:ext cx="1898294" cy="237744"/>
          </a:xfrm>
          <a:prstGeom prst="roundRect">
            <a:avLst>
              <a:gd name="adj" fmla="val 19231"/>
            </a:avLst>
          </a:prstGeom>
          <a:solidFill>
            <a:srgbClr val="ECF3FC"/>
          </a:solidFill>
          <a:ln/>
        </p:spPr>
      </p:sp>
      <p:sp>
        <p:nvSpPr>
          <p:cNvPr id="36" name="Text 27"/>
          <p:cNvSpPr/>
          <p:nvPr/>
        </p:nvSpPr>
        <p:spPr>
          <a:xfrm>
            <a:off x="2785262" y="1408176"/>
            <a:ext cx="18982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2620670" y="1664208"/>
            <a:ext cx="22274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2712110" y="1865376"/>
            <a:ext cx="204459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Requirement Document)</a:t>
            </a:r>
            <a:endParaRPr lang="en-US" sz="73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1530" y="2121408"/>
            <a:ext cx="365760" cy="36576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2785262" y="257860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41" name="Text 31"/>
          <p:cNvSpPr/>
          <p:nvPr/>
        </p:nvSpPr>
        <p:spPr>
          <a:xfrm>
            <a:off x="2620670" y="2615184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 rot="5400000">
            <a:off x="3144622" y="2889504"/>
            <a:ext cx="310896" cy="310896"/>
          </a:xfrm>
          <a:prstGeom prst="hexagon">
            <a:avLst/>
          </a:prstGeom>
          <a:solidFill>
            <a:srgbClr val="2E5FAE"/>
          </a:solidFill>
          <a:ln/>
        </p:spPr>
      </p:sp>
      <p:sp>
        <p:nvSpPr>
          <p:cNvPr id="43" name="Shape 33"/>
          <p:cNvSpPr/>
          <p:nvPr/>
        </p:nvSpPr>
        <p:spPr>
          <a:xfrm rot="5400000">
            <a:off x="3213019" y="2957901"/>
            <a:ext cx="174102" cy="174102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44" name="Text 34"/>
          <p:cNvSpPr/>
          <p:nvPr/>
        </p:nvSpPr>
        <p:spPr>
          <a:xfrm>
            <a:off x="3528670" y="28529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</a:t>
            </a:r>
            <a:endParaRPr lang="en-US" sz="1600" dirty="0"/>
          </a:p>
        </p:txBody>
      </p:sp>
      <p:sp>
        <p:nvSpPr>
          <p:cNvPr id="45" name="Text 35"/>
          <p:cNvSpPr/>
          <p:nvPr/>
        </p:nvSpPr>
        <p:spPr>
          <a:xfrm>
            <a:off x="2894990" y="3419856"/>
            <a:ext cx="177027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 Generation</a:t>
            </a:r>
            <a:endParaRPr lang="en-US" sz="1000" dirty="0"/>
          </a:p>
          <a:p>
            <a:pPr marL="177800" indent="-1778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Creation</a:t>
            </a:r>
            <a:endParaRPr lang="en-US" sz="1000" dirty="0"/>
          </a:p>
          <a:p>
            <a:pPr marL="177800" indent="-1778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Validation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2785262" y="472744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47" name="Text 37"/>
          <p:cNvSpPr/>
          <p:nvPr/>
        </p:nvSpPr>
        <p:spPr>
          <a:xfrm>
            <a:off x="2620670" y="4773168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1528" y="5047488"/>
            <a:ext cx="329184" cy="32918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2757830" y="5413248"/>
            <a:ext cx="97657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6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Level Design)</a:t>
            </a:r>
            <a:endParaRPr lang="en-US" sz="80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8107" y="5047488"/>
            <a:ext cx="329184" cy="329184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3734410" y="5413248"/>
            <a:ext cx="97657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800" dirty="0"/>
          </a:p>
        </p:txBody>
      </p:sp>
      <p:sp>
        <p:nvSpPr>
          <p:cNvPr id="52" name="Shape 40"/>
          <p:cNvSpPr/>
          <p:nvPr/>
        </p:nvSpPr>
        <p:spPr>
          <a:xfrm>
            <a:off x="4967021" y="749808"/>
            <a:ext cx="2227478" cy="499262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Shape 41"/>
          <p:cNvSpPr/>
          <p:nvPr/>
        </p:nvSpPr>
        <p:spPr>
          <a:xfrm>
            <a:off x="4967021" y="749808"/>
            <a:ext cx="2227478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/>
        </p:spPr>
      </p:sp>
      <p:sp>
        <p:nvSpPr>
          <p:cNvPr id="54" name="Shape 42"/>
          <p:cNvSpPr/>
          <p:nvPr/>
        </p:nvSpPr>
        <p:spPr>
          <a:xfrm>
            <a:off x="4967021" y="1042416"/>
            <a:ext cx="2227478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5" name="Shape 43"/>
          <p:cNvSpPr/>
          <p:nvPr/>
        </p:nvSpPr>
        <p:spPr>
          <a:xfrm>
            <a:off x="5113325" y="841248"/>
            <a:ext cx="384048" cy="384048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99736" y="927659"/>
            <a:ext cx="211226" cy="211226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5533949" y="786384"/>
            <a:ext cx="15873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</a:t>
            </a:r>
            <a:endParaRPr lang="en-US" sz="11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50" dirty="0"/>
          </a:p>
        </p:txBody>
      </p:sp>
      <p:sp>
        <p:nvSpPr>
          <p:cNvPr id="58" name="Shape 45"/>
          <p:cNvSpPr/>
          <p:nvPr/>
        </p:nvSpPr>
        <p:spPr>
          <a:xfrm>
            <a:off x="5131613" y="1408176"/>
            <a:ext cx="1898294" cy="237744"/>
          </a:xfrm>
          <a:prstGeom prst="roundRect">
            <a:avLst>
              <a:gd name="adj" fmla="val 19231"/>
            </a:avLst>
          </a:prstGeom>
          <a:solidFill>
            <a:srgbClr val="E8F4E9"/>
          </a:solidFill>
          <a:ln/>
        </p:spPr>
      </p:sp>
      <p:sp>
        <p:nvSpPr>
          <p:cNvPr id="59" name="Text 46"/>
          <p:cNvSpPr/>
          <p:nvPr/>
        </p:nvSpPr>
        <p:spPr>
          <a:xfrm>
            <a:off x="5131613" y="1408176"/>
            <a:ext cx="18982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60" name="Text 47"/>
          <p:cNvSpPr/>
          <p:nvPr/>
        </p:nvSpPr>
        <p:spPr>
          <a:xfrm>
            <a:off x="4967021" y="1682496"/>
            <a:ext cx="22274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Stories</a:t>
            </a:r>
            <a:endParaRPr lang="en-US" sz="1100" dirty="0"/>
          </a:p>
        </p:txBody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2160" y="1993392"/>
            <a:ext cx="457200" cy="457200"/>
          </a:xfrm>
          <a:prstGeom prst="rect">
            <a:avLst/>
          </a:prstGeom>
        </p:spPr>
      </p:pic>
      <p:sp>
        <p:nvSpPr>
          <p:cNvPr id="62" name="Shape 48"/>
          <p:cNvSpPr/>
          <p:nvPr/>
        </p:nvSpPr>
        <p:spPr>
          <a:xfrm>
            <a:off x="5131613" y="257860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63" name="Text 49"/>
          <p:cNvSpPr/>
          <p:nvPr/>
        </p:nvSpPr>
        <p:spPr>
          <a:xfrm>
            <a:off x="4967021" y="2615184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</a:t>
            </a:r>
            <a:pPr algn="ctr" indent="0" marL="0">
              <a:buNone/>
            </a:pPr>
            <a:r>
              <a:rPr lang="en-US" sz="8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(Copilot)</a:t>
            </a:r>
            <a:endParaRPr lang="en-US" sz="1100" dirty="0"/>
          </a:p>
        </p:txBody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68189" y="2949818"/>
            <a:ext cx="234160" cy="234160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5530364" y="2889504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950" dirty="0"/>
          </a:p>
        </p:txBody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8189" y="3304605"/>
            <a:ext cx="234160" cy="234160"/>
          </a:xfrm>
          <a:prstGeom prst="rect">
            <a:avLst/>
          </a:prstGeom>
        </p:spPr>
      </p:pic>
      <p:sp>
        <p:nvSpPr>
          <p:cNvPr id="67" name="Text 51"/>
          <p:cNvSpPr/>
          <p:nvPr/>
        </p:nvSpPr>
        <p:spPr>
          <a:xfrm>
            <a:off x="5530364" y="3244291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</a:t>
            </a:r>
            <a:endParaRPr lang="en-US" sz="950" dirty="0"/>
          </a:p>
        </p:txBody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68189" y="3659392"/>
            <a:ext cx="234160" cy="234160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5530364" y="3599078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68189" y="4014179"/>
            <a:ext cx="234160" cy="234160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5530364" y="3953866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950" dirty="0"/>
          </a:p>
        </p:txBody>
      </p:sp>
      <p:pic>
        <p:nvPicPr>
          <p:cNvPr id="7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68189" y="4368967"/>
            <a:ext cx="234160" cy="234160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5530364" y="4308653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950" dirty="0"/>
          </a:p>
        </p:txBody>
      </p:sp>
      <p:sp>
        <p:nvSpPr>
          <p:cNvPr id="74" name="Shape 55"/>
          <p:cNvSpPr/>
          <p:nvPr/>
        </p:nvSpPr>
        <p:spPr>
          <a:xfrm>
            <a:off x="5131613" y="472744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75" name="Text 56"/>
          <p:cNvSpPr/>
          <p:nvPr/>
        </p:nvSpPr>
        <p:spPr>
          <a:xfrm>
            <a:off x="4967021" y="4773168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11166" y="5047488"/>
            <a:ext cx="274320" cy="274320"/>
          </a:xfrm>
          <a:prstGeom prst="rect">
            <a:avLst/>
          </a:prstGeom>
        </p:spPr>
      </p:pic>
      <p:sp>
        <p:nvSpPr>
          <p:cNvPr id="77" name="Text 57"/>
          <p:cNvSpPr/>
          <p:nvPr/>
        </p:nvSpPr>
        <p:spPr>
          <a:xfrm>
            <a:off x="5104181" y="5358384"/>
            <a:ext cx="48829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Source Code</a:t>
            </a:r>
            <a:endParaRPr lang="en-US" sz="700" dirty="0"/>
          </a:p>
        </p:txBody>
      </p:sp>
      <p:pic>
        <p:nvPicPr>
          <p:cNvPr id="7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99455" y="5047488"/>
            <a:ext cx="274320" cy="274320"/>
          </a:xfrm>
          <a:prstGeom prst="rect">
            <a:avLst/>
          </a:prstGeom>
        </p:spPr>
      </p:pic>
      <p:sp>
        <p:nvSpPr>
          <p:cNvPr id="79" name="Text 58"/>
          <p:cNvSpPr/>
          <p:nvPr/>
        </p:nvSpPr>
        <p:spPr>
          <a:xfrm>
            <a:off x="5592470" y="5358384"/>
            <a:ext cx="48829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700" dirty="0"/>
          </a:p>
        </p:txBody>
      </p:sp>
      <p:pic>
        <p:nvPicPr>
          <p:cNvPr id="8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87745" y="5047488"/>
            <a:ext cx="274320" cy="274320"/>
          </a:xfrm>
          <a:prstGeom prst="rect">
            <a:avLst/>
          </a:prstGeom>
        </p:spPr>
      </p:pic>
      <p:sp>
        <p:nvSpPr>
          <p:cNvPr id="81" name="Text 59"/>
          <p:cNvSpPr/>
          <p:nvPr/>
        </p:nvSpPr>
        <p:spPr>
          <a:xfrm>
            <a:off x="6080760" y="5358384"/>
            <a:ext cx="48829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for Review</a:t>
            </a:r>
            <a:endParaRPr lang="en-US" sz="700" dirty="0"/>
          </a:p>
        </p:txBody>
      </p:sp>
      <p:pic>
        <p:nvPicPr>
          <p:cNvPr id="8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76034" y="5047488"/>
            <a:ext cx="274320" cy="274320"/>
          </a:xfrm>
          <a:prstGeom prst="rect">
            <a:avLst/>
          </a:prstGeom>
        </p:spPr>
      </p:pic>
      <p:sp>
        <p:nvSpPr>
          <p:cNvPr id="83" name="Text 60"/>
          <p:cNvSpPr/>
          <p:nvPr/>
        </p:nvSpPr>
        <p:spPr>
          <a:xfrm>
            <a:off x="6569050" y="5358384"/>
            <a:ext cx="48829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700" dirty="0"/>
          </a:p>
        </p:txBody>
      </p:sp>
      <p:sp>
        <p:nvSpPr>
          <p:cNvPr id="84" name="Shape 61"/>
          <p:cNvSpPr/>
          <p:nvPr/>
        </p:nvSpPr>
        <p:spPr>
          <a:xfrm>
            <a:off x="7313371" y="749808"/>
            <a:ext cx="2227478" cy="499262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5" name="Shape 62"/>
          <p:cNvSpPr/>
          <p:nvPr/>
        </p:nvSpPr>
        <p:spPr>
          <a:xfrm>
            <a:off x="7313371" y="749808"/>
            <a:ext cx="2227478" cy="566928"/>
          </a:xfrm>
          <a:prstGeom prst="roundRect">
            <a:avLst>
              <a:gd name="adj" fmla="val 12903"/>
            </a:avLst>
          </a:prstGeom>
          <a:solidFill>
            <a:srgbClr val="44309A"/>
          </a:solidFill>
          <a:ln/>
        </p:spPr>
      </p:sp>
      <p:sp>
        <p:nvSpPr>
          <p:cNvPr id="86" name="Shape 63"/>
          <p:cNvSpPr/>
          <p:nvPr/>
        </p:nvSpPr>
        <p:spPr>
          <a:xfrm>
            <a:off x="7313371" y="1042416"/>
            <a:ext cx="2227478" cy="274320"/>
          </a:xfrm>
          <a:prstGeom prst="rect">
            <a:avLst/>
          </a:prstGeom>
          <a:solidFill>
            <a:srgbClr val="44309A"/>
          </a:solidFill>
          <a:ln/>
        </p:spPr>
      </p:sp>
      <p:sp>
        <p:nvSpPr>
          <p:cNvPr id="87" name="Shape 64"/>
          <p:cNvSpPr/>
          <p:nvPr/>
        </p:nvSpPr>
        <p:spPr>
          <a:xfrm>
            <a:off x="7459675" y="841248"/>
            <a:ext cx="384048" cy="384048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8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46086" y="927659"/>
            <a:ext cx="211226" cy="211226"/>
          </a:xfrm>
          <a:prstGeom prst="rect">
            <a:avLst/>
          </a:prstGeom>
        </p:spPr>
      </p:pic>
      <p:sp>
        <p:nvSpPr>
          <p:cNvPr id="89" name="Text 65"/>
          <p:cNvSpPr/>
          <p:nvPr/>
        </p:nvSpPr>
        <p:spPr>
          <a:xfrm>
            <a:off x="7880299" y="786384"/>
            <a:ext cx="15873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PHASE</a:t>
            </a:r>
            <a:endParaRPr lang="en-US" sz="11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50" dirty="0"/>
          </a:p>
        </p:txBody>
      </p:sp>
      <p:sp>
        <p:nvSpPr>
          <p:cNvPr id="90" name="Shape 66"/>
          <p:cNvSpPr/>
          <p:nvPr/>
        </p:nvSpPr>
        <p:spPr>
          <a:xfrm>
            <a:off x="7477963" y="1408176"/>
            <a:ext cx="1898294" cy="237744"/>
          </a:xfrm>
          <a:prstGeom prst="roundRect">
            <a:avLst>
              <a:gd name="adj" fmla="val 19231"/>
            </a:avLst>
          </a:prstGeom>
          <a:solidFill>
            <a:srgbClr val="EFEBF8"/>
          </a:solidFill>
          <a:ln/>
        </p:spPr>
      </p:sp>
      <p:sp>
        <p:nvSpPr>
          <p:cNvPr id="91" name="Text 67"/>
          <p:cNvSpPr/>
          <p:nvPr/>
        </p:nvSpPr>
        <p:spPr>
          <a:xfrm>
            <a:off x="7477963" y="1408176"/>
            <a:ext cx="18982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92" name="Text 68"/>
          <p:cNvSpPr/>
          <p:nvPr/>
        </p:nvSpPr>
        <p:spPr>
          <a:xfrm>
            <a:off x="7313371" y="1682496"/>
            <a:ext cx="22274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Story</a:t>
            </a:r>
            <a:endParaRPr lang="en-US" sz="1100" dirty="0"/>
          </a:p>
        </p:txBody>
      </p:sp>
      <p:pic>
        <p:nvPicPr>
          <p:cNvPr id="9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98510" y="1993392"/>
            <a:ext cx="457200" cy="457200"/>
          </a:xfrm>
          <a:prstGeom prst="rect">
            <a:avLst/>
          </a:prstGeom>
        </p:spPr>
      </p:pic>
      <p:sp>
        <p:nvSpPr>
          <p:cNvPr id="94" name="Shape 69"/>
          <p:cNvSpPr/>
          <p:nvPr/>
        </p:nvSpPr>
        <p:spPr>
          <a:xfrm>
            <a:off x="7477963" y="257860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95" name="Text 70"/>
          <p:cNvSpPr/>
          <p:nvPr/>
        </p:nvSpPr>
        <p:spPr>
          <a:xfrm>
            <a:off x="7313371" y="2615184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</a:t>
            </a:r>
            <a:pPr algn="ctr" indent="0" marL="0">
              <a:buNone/>
            </a:pPr>
            <a:r>
              <a:rPr lang="en-US" sz="8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(Copilot)</a:t>
            </a:r>
            <a:endParaRPr lang="en-US" sz="1100" dirty="0"/>
          </a:p>
        </p:txBody>
      </p:sp>
      <p:pic>
        <p:nvPicPr>
          <p:cNvPr id="9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14539" y="2949818"/>
            <a:ext cx="234160" cy="234160"/>
          </a:xfrm>
          <a:prstGeom prst="rect">
            <a:avLst/>
          </a:prstGeom>
        </p:spPr>
      </p:pic>
      <p:sp>
        <p:nvSpPr>
          <p:cNvPr id="97" name="Text 71"/>
          <p:cNvSpPr/>
          <p:nvPr/>
        </p:nvSpPr>
        <p:spPr>
          <a:xfrm>
            <a:off x="7876715" y="2889504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</a:t>
            </a:r>
            <a:endParaRPr lang="en-US" sz="950" dirty="0"/>
          </a:p>
        </p:txBody>
      </p:sp>
      <p:pic>
        <p:nvPicPr>
          <p:cNvPr id="9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14539" y="3304605"/>
            <a:ext cx="234160" cy="234160"/>
          </a:xfrm>
          <a:prstGeom prst="rect">
            <a:avLst/>
          </a:prstGeom>
        </p:spPr>
      </p:pic>
      <p:sp>
        <p:nvSpPr>
          <p:cNvPr id="99" name="Text 72"/>
          <p:cNvSpPr/>
          <p:nvPr/>
        </p:nvSpPr>
        <p:spPr>
          <a:xfrm>
            <a:off x="7876715" y="3244291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Generation</a:t>
            </a:r>
            <a:endParaRPr lang="en-US" sz="950" dirty="0"/>
          </a:p>
        </p:txBody>
      </p:sp>
      <p:pic>
        <p:nvPicPr>
          <p:cNvPr id="10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14539" y="3659392"/>
            <a:ext cx="234160" cy="234160"/>
          </a:xfrm>
          <a:prstGeom prst="rect">
            <a:avLst/>
          </a:prstGeom>
        </p:spPr>
      </p:pic>
      <p:sp>
        <p:nvSpPr>
          <p:cNvPr id="101" name="Text 73"/>
          <p:cNvSpPr/>
          <p:nvPr/>
        </p:nvSpPr>
        <p:spPr>
          <a:xfrm>
            <a:off x="7876715" y="3599078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950" dirty="0"/>
          </a:p>
        </p:txBody>
      </p:sp>
      <p:pic>
        <p:nvPicPr>
          <p:cNvPr id="10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14539" y="4014179"/>
            <a:ext cx="234160" cy="234160"/>
          </a:xfrm>
          <a:prstGeom prst="rect">
            <a:avLst/>
          </a:prstGeom>
        </p:spPr>
      </p:pic>
      <p:sp>
        <p:nvSpPr>
          <p:cNvPr id="103" name="Text 74"/>
          <p:cNvSpPr/>
          <p:nvPr/>
        </p:nvSpPr>
        <p:spPr>
          <a:xfrm>
            <a:off x="7876715" y="3953866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 Automation</a:t>
            </a:r>
            <a:endParaRPr lang="en-US" sz="950" dirty="0"/>
          </a:p>
        </p:txBody>
      </p:sp>
      <p:pic>
        <p:nvPicPr>
          <p:cNvPr id="10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514539" y="4368967"/>
            <a:ext cx="234160" cy="234160"/>
          </a:xfrm>
          <a:prstGeom prst="rect">
            <a:avLst/>
          </a:prstGeom>
        </p:spPr>
      </p:pic>
      <p:sp>
        <p:nvSpPr>
          <p:cNvPr id="105" name="Text 75"/>
          <p:cNvSpPr/>
          <p:nvPr/>
        </p:nvSpPr>
        <p:spPr>
          <a:xfrm>
            <a:off x="7876715" y="4308653"/>
            <a:ext cx="1536119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950" dirty="0"/>
          </a:p>
        </p:txBody>
      </p:sp>
      <p:sp>
        <p:nvSpPr>
          <p:cNvPr id="106" name="Shape 76"/>
          <p:cNvSpPr/>
          <p:nvPr/>
        </p:nvSpPr>
        <p:spPr>
          <a:xfrm>
            <a:off x="7477963" y="472744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107" name="Text 77"/>
          <p:cNvSpPr/>
          <p:nvPr/>
        </p:nvSpPr>
        <p:spPr>
          <a:xfrm>
            <a:off x="7313371" y="4773168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pic>
        <p:nvPicPr>
          <p:cNvPr id="10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74229" y="5047488"/>
            <a:ext cx="329184" cy="329184"/>
          </a:xfrm>
          <a:prstGeom prst="rect">
            <a:avLst/>
          </a:prstGeom>
        </p:spPr>
      </p:pic>
      <p:sp>
        <p:nvSpPr>
          <p:cNvPr id="109" name="Text 78"/>
          <p:cNvSpPr/>
          <p:nvPr/>
        </p:nvSpPr>
        <p:spPr>
          <a:xfrm>
            <a:off x="7450531" y="5413248"/>
            <a:ext cx="97657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</a:t>
            </a:r>
            <a:endParaRPr lang="en-US" sz="800" dirty="0"/>
          </a:p>
        </p:txBody>
      </p:sp>
      <p:pic>
        <p:nvPicPr>
          <p:cNvPr id="11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750808" y="5047488"/>
            <a:ext cx="329184" cy="329184"/>
          </a:xfrm>
          <a:prstGeom prst="rect">
            <a:avLst/>
          </a:prstGeom>
        </p:spPr>
      </p:pic>
      <p:sp>
        <p:nvSpPr>
          <p:cNvPr id="111" name="Text 79"/>
          <p:cNvSpPr/>
          <p:nvPr/>
        </p:nvSpPr>
        <p:spPr>
          <a:xfrm>
            <a:off x="8427110" y="5413248"/>
            <a:ext cx="97657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Test Suites</a:t>
            </a:r>
            <a:endParaRPr lang="en-US" sz="800" dirty="0"/>
          </a:p>
        </p:txBody>
      </p:sp>
      <p:sp>
        <p:nvSpPr>
          <p:cNvPr id="112" name="Shape 80"/>
          <p:cNvSpPr/>
          <p:nvPr/>
        </p:nvSpPr>
        <p:spPr>
          <a:xfrm>
            <a:off x="9659722" y="749808"/>
            <a:ext cx="2227478" cy="499262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3" name="Shape 81"/>
          <p:cNvSpPr/>
          <p:nvPr/>
        </p:nvSpPr>
        <p:spPr>
          <a:xfrm>
            <a:off x="9659722" y="749808"/>
            <a:ext cx="2227478" cy="566928"/>
          </a:xfrm>
          <a:prstGeom prst="roundRect">
            <a:avLst>
              <a:gd name="adj" fmla="val 12903"/>
            </a:avLst>
          </a:prstGeom>
          <a:solidFill>
            <a:srgbClr val="E8541E"/>
          </a:solidFill>
          <a:ln/>
        </p:spPr>
      </p:sp>
      <p:sp>
        <p:nvSpPr>
          <p:cNvPr id="114" name="Shape 82"/>
          <p:cNvSpPr/>
          <p:nvPr/>
        </p:nvSpPr>
        <p:spPr>
          <a:xfrm>
            <a:off x="9659722" y="1042416"/>
            <a:ext cx="2227478" cy="274320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115" name="Shape 83"/>
          <p:cNvSpPr/>
          <p:nvPr/>
        </p:nvSpPr>
        <p:spPr>
          <a:xfrm>
            <a:off x="9806026" y="841248"/>
            <a:ext cx="384048" cy="384048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11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892436" y="927659"/>
            <a:ext cx="211226" cy="211226"/>
          </a:xfrm>
          <a:prstGeom prst="rect">
            <a:avLst/>
          </a:prstGeom>
        </p:spPr>
      </p:pic>
      <p:sp>
        <p:nvSpPr>
          <p:cNvPr id="117" name="Text 84"/>
          <p:cNvSpPr/>
          <p:nvPr/>
        </p:nvSpPr>
        <p:spPr>
          <a:xfrm>
            <a:off x="10226650" y="786384"/>
            <a:ext cx="158739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PHASE</a:t>
            </a:r>
            <a:endParaRPr lang="en-US" sz="11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</a:t>
            </a:r>
            <a:endParaRPr lang="en-US" sz="1150" dirty="0"/>
          </a:p>
        </p:txBody>
      </p:sp>
      <p:sp>
        <p:nvSpPr>
          <p:cNvPr id="118" name="Shape 85"/>
          <p:cNvSpPr/>
          <p:nvPr/>
        </p:nvSpPr>
        <p:spPr>
          <a:xfrm>
            <a:off x="9824314" y="1408176"/>
            <a:ext cx="1898294" cy="237744"/>
          </a:xfrm>
          <a:prstGeom prst="roundRect">
            <a:avLst>
              <a:gd name="adj" fmla="val 19231"/>
            </a:avLst>
          </a:prstGeom>
          <a:solidFill>
            <a:srgbClr val="FCEEE7"/>
          </a:solidFill>
          <a:ln/>
        </p:spPr>
      </p:sp>
      <p:sp>
        <p:nvSpPr>
          <p:cNvPr id="119" name="Text 86"/>
          <p:cNvSpPr/>
          <p:nvPr/>
        </p:nvSpPr>
        <p:spPr>
          <a:xfrm>
            <a:off x="9824314" y="1408176"/>
            <a:ext cx="18982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120" name="Text 87"/>
          <p:cNvSpPr/>
          <p:nvPr/>
        </p:nvSpPr>
        <p:spPr>
          <a:xfrm>
            <a:off x="9659722" y="1664208"/>
            <a:ext cx="22274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121" name="Text 88"/>
          <p:cNvSpPr/>
          <p:nvPr/>
        </p:nvSpPr>
        <p:spPr>
          <a:xfrm>
            <a:off x="9751162" y="1865376"/>
            <a:ext cx="204459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(Approved Merged PR)</a:t>
            </a:r>
            <a:endParaRPr lang="en-US" sz="730" dirty="0"/>
          </a:p>
        </p:txBody>
      </p:sp>
      <p:sp>
        <p:nvSpPr>
          <p:cNvPr id="122" name="Shape 89"/>
          <p:cNvSpPr/>
          <p:nvPr/>
        </p:nvSpPr>
        <p:spPr>
          <a:xfrm>
            <a:off x="10581437" y="21214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B1640"/>
          </a:solidFill>
          <a:ln/>
        </p:spPr>
      </p:sp>
      <p:pic>
        <p:nvPicPr>
          <p:cNvPr id="12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67848" y="2207819"/>
            <a:ext cx="211226" cy="211226"/>
          </a:xfrm>
          <a:prstGeom prst="rect">
            <a:avLst/>
          </a:prstGeom>
        </p:spPr>
      </p:pic>
      <p:sp>
        <p:nvSpPr>
          <p:cNvPr id="124" name="Shape 90"/>
          <p:cNvSpPr/>
          <p:nvPr/>
        </p:nvSpPr>
        <p:spPr>
          <a:xfrm>
            <a:off x="9824314" y="257860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125" name="Text 91"/>
          <p:cNvSpPr/>
          <p:nvPr/>
        </p:nvSpPr>
        <p:spPr>
          <a:xfrm>
            <a:off x="9659722" y="2615184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pic>
        <p:nvPicPr>
          <p:cNvPr id="12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60890" y="3048000"/>
            <a:ext cx="274320" cy="274320"/>
          </a:xfrm>
          <a:prstGeom prst="rect">
            <a:avLst/>
          </a:prstGeom>
        </p:spPr>
      </p:pic>
      <p:sp>
        <p:nvSpPr>
          <p:cNvPr id="127" name="Text 92"/>
          <p:cNvSpPr/>
          <p:nvPr/>
        </p:nvSpPr>
        <p:spPr>
          <a:xfrm>
            <a:off x="10263226" y="2889504"/>
            <a:ext cx="1495958" cy="591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Build Agent</a:t>
            </a:r>
            <a:endParaRPr lang="en-US" sz="950" dirty="0"/>
          </a:p>
        </p:txBody>
      </p:sp>
      <p:pic>
        <p:nvPicPr>
          <p:cNvPr id="128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60890" y="3639312"/>
            <a:ext cx="274320" cy="274320"/>
          </a:xfrm>
          <a:prstGeom prst="rect">
            <a:avLst/>
          </a:prstGeom>
        </p:spPr>
      </p:pic>
      <p:sp>
        <p:nvSpPr>
          <p:cNvPr id="129" name="Text 93"/>
          <p:cNvSpPr/>
          <p:nvPr/>
        </p:nvSpPr>
        <p:spPr>
          <a:xfrm>
            <a:off x="10263226" y="3480816"/>
            <a:ext cx="1495958" cy="591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Agent</a:t>
            </a:r>
            <a:endParaRPr lang="en-US" sz="950" dirty="0"/>
          </a:p>
        </p:txBody>
      </p:sp>
      <p:pic>
        <p:nvPicPr>
          <p:cNvPr id="13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860890" y="4230624"/>
            <a:ext cx="274320" cy="274320"/>
          </a:xfrm>
          <a:prstGeom prst="rect">
            <a:avLst/>
          </a:prstGeom>
        </p:spPr>
      </p:pic>
      <p:sp>
        <p:nvSpPr>
          <p:cNvPr id="131" name="Text 94"/>
          <p:cNvSpPr/>
          <p:nvPr/>
        </p:nvSpPr>
        <p:spPr>
          <a:xfrm>
            <a:off x="10263226" y="4072128"/>
            <a:ext cx="1495958" cy="591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Agent</a:t>
            </a:r>
            <a:endParaRPr lang="en-US" sz="950" dirty="0"/>
          </a:p>
        </p:txBody>
      </p:sp>
      <p:sp>
        <p:nvSpPr>
          <p:cNvPr id="132" name="Shape 95"/>
          <p:cNvSpPr/>
          <p:nvPr/>
        </p:nvSpPr>
        <p:spPr>
          <a:xfrm>
            <a:off x="9824314" y="4727448"/>
            <a:ext cx="1898294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133" name="Text 96"/>
          <p:cNvSpPr/>
          <p:nvPr/>
        </p:nvSpPr>
        <p:spPr>
          <a:xfrm>
            <a:off x="9659722" y="4773168"/>
            <a:ext cx="22274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pic>
        <p:nvPicPr>
          <p:cNvPr id="134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581437" y="5047488"/>
            <a:ext cx="384048" cy="384048"/>
          </a:xfrm>
          <a:prstGeom prst="rect">
            <a:avLst/>
          </a:prstGeom>
        </p:spPr>
      </p:pic>
      <p:sp>
        <p:nvSpPr>
          <p:cNvPr id="135" name="Text 97"/>
          <p:cNvSpPr/>
          <p:nvPr/>
        </p:nvSpPr>
        <p:spPr>
          <a:xfrm>
            <a:off x="9796882" y="5468112"/>
            <a:ext cx="195315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6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files (CI/CD)</a:t>
            </a:r>
            <a:endParaRPr lang="en-US" sz="800" dirty="0"/>
          </a:p>
        </p:txBody>
      </p:sp>
      <p:sp>
        <p:nvSpPr>
          <p:cNvPr id="136" name="Shape 98"/>
          <p:cNvSpPr/>
          <p:nvPr/>
        </p:nvSpPr>
        <p:spPr>
          <a:xfrm>
            <a:off x="274320" y="5870448"/>
            <a:ext cx="11612880" cy="822960"/>
          </a:xfrm>
          <a:prstGeom prst="roundRect">
            <a:avLst>
              <a:gd name="adj" fmla="val 6667"/>
            </a:avLst>
          </a:prstGeom>
          <a:solidFill>
            <a:srgbClr val="F5F6F9"/>
          </a:solidFill>
          <a:ln/>
        </p:spPr>
      </p:sp>
      <p:sp>
        <p:nvSpPr>
          <p:cNvPr id="137" name="Shape 99"/>
          <p:cNvSpPr/>
          <p:nvPr/>
        </p:nvSpPr>
        <p:spPr>
          <a:xfrm>
            <a:off x="274320" y="5870448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0B1640"/>
          </a:solidFill>
          <a:ln/>
        </p:spPr>
      </p:sp>
      <p:sp>
        <p:nvSpPr>
          <p:cNvPr id="138" name="Text 100"/>
          <p:cNvSpPr/>
          <p:nvPr/>
        </p:nvSpPr>
        <p:spPr>
          <a:xfrm>
            <a:off x="274320" y="598017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50" dirty="0"/>
          </a:p>
        </p:txBody>
      </p:sp>
      <p:pic>
        <p:nvPicPr>
          <p:cNvPr id="139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64692" y="6373368"/>
            <a:ext cx="310896" cy="310896"/>
          </a:xfrm>
          <a:prstGeom prst="rect">
            <a:avLst/>
          </a:prstGeom>
        </p:spPr>
      </p:pic>
      <p:pic>
        <p:nvPicPr>
          <p:cNvPr id="14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127248" y="5925312"/>
            <a:ext cx="329184" cy="329184"/>
          </a:xfrm>
          <a:prstGeom prst="rect">
            <a:avLst/>
          </a:prstGeom>
        </p:spPr>
      </p:pic>
      <p:sp>
        <p:nvSpPr>
          <p:cNvPr id="141" name="Text 101"/>
          <p:cNvSpPr/>
          <p:nvPr/>
        </p:nvSpPr>
        <p:spPr>
          <a:xfrm>
            <a:off x="2148840" y="627278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850" dirty="0"/>
          </a:p>
        </p:txBody>
      </p:sp>
      <p:sp>
        <p:nvSpPr>
          <p:cNvPr id="142" name="Text 102"/>
          <p:cNvSpPr/>
          <p:nvPr/>
        </p:nvSpPr>
        <p:spPr>
          <a:xfrm>
            <a:off x="214884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faster development from requirements to production</a:t>
            </a:r>
            <a:endParaRPr lang="en-US" sz="730" dirty="0"/>
          </a:p>
        </p:txBody>
      </p:sp>
      <p:pic>
        <p:nvPicPr>
          <p:cNvPr id="143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611368" y="5925312"/>
            <a:ext cx="329184" cy="329184"/>
          </a:xfrm>
          <a:prstGeom prst="rect">
            <a:avLst/>
          </a:prstGeom>
        </p:spPr>
      </p:pic>
      <p:sp>
        <p:nvSpPr>
          <p:cNvPr id="144" name="Text 103"/>
          <p:cNvSpPr/>
          <p:nvPr/>
        </p:nvSpPr>
        <p:spPr>
          <a:xfrm>
            <a:off x="4632960" y="627278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</a:t>
            </a:r>
            <a:endParaRPr lang="en-US" sz="850" dirty="0"/>
          </a:p>
        </p:txBody>
      </p:sp>
      <p:sp>
        <p:nvSpPr>
          <p:cNvPr id="145" name="Text 104"/>
          <p:cNvSpPr/>
          <p:nvPr/>
        </p:nvSpPr>
        <p:spPr>
          <a:xfrm>
            <a:off x="46329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from requirements to production</a:t>
            </a:r>
            <a:endParaRPr lang="en-US" sz="730" dirty="0"/>
          </a:p>
        </p:txBody>
      </p:sp>
      <p:pic>
        <p:nvPicPr>
          <p:cNvPr id="146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095488" y="5925312"/>
            <a:ext cx="329184" cy="329184"/>
          </a:xfrm>
          <a:prstGeom prst="rect">
            <a:avLst/>
          </a:prstGeom>
        </p:spPr>
      </p:pic>
      <p:sp>
        <p:nvSpPr>
          <p:cNvPr id="147" name="Text 105"/>
          <p:cNvSpPr/>
          <p:nvPr/>
        </p:nvSpPr>
        <p:spPr>
          <a:xfrm>
            <a:off x="7117080" y="627278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STANDARDIZATION</a:t>
            </a:r>
            <a:endParaRPr lang="en-US" sz="850" dirty="0"/>
          </a:p>
        </p:txBody>
      </p:sp>
      <p:sp>
        <p:nvSpPr>
          <p:cNvPr id="148" name="Text 106"/>
          <p:cNvSpPr/>
          <p:nvPr/>
        </p:nvSpPr>
        <p:spPr>
          <a:xfrm>
            <a:off x="711708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artifacts and processes across teams</a:t>
            </a:r>
            <a:endParaRPr lang="en-US" sz="730" dirty="0"/>
          </a:p>
        </p:txBody>
      </p:sp>
      <p:pic>
        <p:nvPicPr>
          <p:cNvPr id="149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579608" y="5925312"/>
            <a:ext cx="329184" cy="329184"/>
          </a:xfrm>
          <a:prstGeom prst="rect">
            <a:avLst/>
          </a:prstGeom>
        </p:spPr>
      </p:pic>
      <p:sp>
        <p:nvSpPr>
          <p:cNvPr id="150" name="Text 107"/>
          <p:cNvSpPr/>
          <p:nvPr/>
        </p:nvSpPr>
        <p:spPr>
          <a:xfrm>
            <a:off x="9601200" y="627278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COLLABORATION</a:t>
            </a:r>
            <a:endParaRPr lang="en-US" sz="850" dirty="0"/>
          </a:p>
        </p:txBody>
      </p:sp>
      <p:sp>
        <p:nvSpPr>
          <p:cNvPr id="151" name="Text 108"/>
          <p:cNvSpPr/>
          <p:nvPr/>
        </p:nvSpPr>
        <p:spPr>
          <a:xfrm>
            <a:off x="960120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collaboration across business, dev, test &amp; ops teams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54864"/>
            <a:ext cx="11978640" cy="6729984"/>
          </a:xfrm>
          <a:prstGeom prst="roundRect">
            <a:avLst>
              <a:gd name="adj" fmla="val 679"/>
            </a:avLst>
          </a:prstGeom>
          <a:ln w="12700">
            <a:solidFill>
              <a:srgbClr val="D9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1161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SDLC - Supply Chain - Master Data Management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512064"/>
            <a:ext cx="2227478" cy="279806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12064"/>
            <a:ext cx="2227478" cy="475488"/>
          </a:xfrm>
          <a:prstGeom prst="roundRect">
            <a:avLst>
              <a:gd name="adj" fmla="val 13462"/>
            </a:avLst>
          </a:prstGeom>
          <a:solidFill>
            <a:srgbClr val="2E5FA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49808"/>
            <a:ext cx="2227478" cy="237744"/>
          </a:xfrm>
          <a:prstGeom prst="rect">
            <a:avLst/>
          </a:prstGeom>
          <a:solidFill>
            <a:srgbClr val="2E5FAE"/>
          </a:solidFill>
          <a:ln/>
        </p:spPr>
      </p:sp>
      <p:sp>
        <p:nvSpPr>
          <p:cNvPr id="7" name="Shape 5"/>
          <p:cNvSpPr/>
          <p:nvPr/>
        </p:nvSpPr>
        <p:spPr>
          <a:xfrm>
            <a:off x="402336" y="585216"/>
            <a:ext cx="329184" cy="329184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756" y="657636"/>
            <a:ext cx="184343" cy="184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539496"/>
            <a:ext cx="166055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PHASE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ROVO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2471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1069848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Generation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86384" y="1220724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Business Requirement Documents from conversations.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52651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6384" y="1497787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Story Creation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786384" y="1648663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epics and user stories from discussions and notes.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2620670" y="512064"/>
            <a:ext cx="2227478" cy="279806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620670" y="512064"/>
            <a:ext cx="2227478" cy="475488"/>
          </a:xfrm>
          <a:prstGeom prst="roundRect">
            <a:avLst>
              <a:gd name="adj" fmla="val 13462"/>
            </a:avLst>
          </a:prstGeom>
          <a:solidFill>
            <a:srgbClr val="3A78C8"/>
          </a:solidFill>
          <a:ln/>
        </p:spPr>
      </p:sp>
      <p:sp>
        <p:nvSpPr>
          <p:cNvPr id="18" name="Shape 13"/>
          <p:cNvSpPr/>
          <p:nvPr/>
        </p:nvSpPr>
        <p:spPr>
          <a:xfrm>
            <a:off x="2620670" y="749808"/>
            <a:ext cx="2227478" cy="237744"/>
          </a:xfrm>
          <a:prstGeom prst="rect">
            <a:avLst/>
          </a:prstGeom>
          <a:solidFill>
            <a:srgbClr val="3A78C8"/>
          </a:solidFill>
          <a:ln/>
        </p:spPr>
      </p:sp>
      <p:sp>
        <p:nvSpPr>
          <p:cNvPr id="19" name="Shape 14"/>
          <p:cNvSpPr/>
          <p:nvPr/>
        </p:nvSpPr>
        <p:spPr>
          <a:xfrm>
            <a:off x="2748686" y="585216"/>
            <a:ext cx="329184" cy="329184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107" y="657636"/>
            <a:ext cx="184343" cy="184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132734" y="539496"/>
            <a:ext cx="166055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ROVO</a:t>
            </a:r>
            <a:endParaRPr lang="en-US" sz="10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262" y="112471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132734" y="1069848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 Generation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3132734" y="1220724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Low Level Design documents and components.</a:t>
            </a:r>
            <a:endParaRPr lang="en-US" sz="7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5262" y="1552651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132734" y="1497787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Creation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3132734" y="1648663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detailed use cases and business flows.</a:t>
            </a:r>
            <a:endParaRPr lang="en-US" sz="7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5262" y="1980590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132734" y="1925726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Validation</a:t>
            </a:r>
            <a:endParaRPr lang="en-US" sz="850" dirty="0"/>
          </a:p>
        </p:txBody>
      </p:sp>
      <p:sp>
        <p:nvSpPr>
          <p:cNvPr id="30" name="Text 21"/>
          <p:cNvSpPr/>
          <p:nvPr/>
        </p:nvSpPr>
        <p:spPr>
          <a:xfrm>
            <a:off x="3132734" y="2076602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designs for completeness, consistency and standards.</a:t>
            </a:r>
            <a:endParaRPr lang="en-US" sz="700" dirty="0"/>
          </a:p>
        </p:txBody>
      </p:sp>
      <p:sp>
        <p:nvSpPr>
          <p:cNvPr id="31" name="Shape 22"/>
          <p:cNvSpPr/>
          <p:nvPr/>
        </p:nvSpPr>
        <p:spPr>
          <a:xfrm>
            <a:off x="4967021" y="512064"/>
            <a:ext cx="2227478" cy="279806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4967021" y="512064"/>
            <a:ext cx="2227478" cy="475488"/>
          </a:xfrm>
          <a:prstGeom prst="roundRect">
            <a:avLst>
              <a:gd name="adj" fmla="val 13462"/>
            </a:avLst>
          </a:prstGeom>
          <a:solidFill>
            <a:srgbClr val="2E7D32"/>
          </a:solidFill>
          <a:ln/>
        </p:spPr>
      </p:sp>
      <p:sp>
        <p:nvSpPr>
          <p:cNvPr id="33" name="Shape 24"/>
          <p:cNvSpPr/>
          <p:nvPr/>
        </p:nvSpPr>
        <p:spPr>
          <a:xfrm>
            <a:off x="4967021" y="749808"/>
            <a:ext cx="2227478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Shape 25"/>
          <p:cNvSpPr/>
          <p:nvPr/>
        </p:nvSpPr>
        <p:spPr>
          <a:xfrm>
            <a:off x="5095037" y="585216"/>
            <a:ext cx="329184" cy="329184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7457" y="657636"/>
            <a:ext cx="184343" cy="18434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479085" y="539496"/>
            <a:ext cx="166055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5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1613" y="1124712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479085" y="1069848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850" dirty="0"/>
          </a:p>
        </p:txBody>
      </p:sp>
      <p:sp>
        <p:nvSpPr>
          <p:cNvPr id="39" name="Text 28"/>
          <p:cNvSpPr/>
          <p:nvPr/>
        </p:nvSpPr>
        <p:spPr>
          <a:xfrm>
            <a:off x="5479085" y="1220724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code based on requirements and context.</a:t>
            </a:r>
            <a:endParaRPr lang="en-US" sz="7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1613" y="1552651"/>
            <a:ext cx="237744" cy="23774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479085" y="1497787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</a:t>
            </a:r>
            <a:endParaRPr lang="en-US" sz="850" dirty="0"/>
          </a:p>
        </p:txBody>
      </p:sp>
      <p:sp>
        <p:nvSpPr>
          <p:cNvPr id="42" name="Text 30"/>
          <p:cNvSpPr/>
          <p:nvPr/>
        </p:nvSpPr>
        <p:spPr>
          <a:xfrm>
            <a:off x="5479085" y="1648663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unit and integration test cases.</a:t>
            </a:r>
            <a:endParaRPr lang="en-US" sz="7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31613" y="1980590"/>
            <a:ext cx="237744" cy="23774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479085" y="1925726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45" name="Text 32"/>
          <p:cNvSpPr/>
          <p:nvPr/>
        </p:nvSpPr>
        <p:spPr>
          <a:xfrm>
            <a:off x="5479085" y="2076602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technical documentation and code comments.</a:t>
            </a:r>
            <a:endParaRPr lang="en-US" sz="7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1613" y="2408530"/>
            <a:ext cx="237744" cy="23774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479085" y="2353666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48" name="Text 34"/>
          <p:cNvSpPr/>
          <p:nvPr/>
        </p:nvSpPr>
        <p:spPr>
          <a:xfrm>
            <a:off x="5479085" y="2504542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code for quality, security and best practices.</a:t>
            </a:r>
            <a:endParaRPr lang="en-US" sz="70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31613" y="2836469"/>
            <a:ext cx="237744" cy="237744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5479085" y="2781605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850" dirty="0"/>
          </a:p>
        </p:txBody>
      </p:sp>
      <p:sp>
        <p:nvSpPr>
          <p:cNvPr id="51" name="Text 36"/>
          <p:cNvSpPr/>
          <p:nvPr/>
        </p:nvSpPr>
        <p:spPr>
          <a:xfrm>
            <a:off x="5479085" y="2932481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code structure, readability and performance.</a:t>
            </a:r>
            <a:endParaRPr lang="en-US" sz="700" dirty="0"/>
          </a:p>
        </p:txBody>
      </p:sp>
      <p:sp>
        <p:nvSpPr>
          <p:cNvPr id="52" name="Shape 37"/>
          <p:cNvSpPr/>
          <p:nvPr/>
        </p:nvSpPr>
        <p:spPr>
          <a:xfrm>
            <a:off x="7313371" y="512064"/>
            <a:ext cx="2227478" cy="279806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Shape 38"/>
          <p:cNvSpPr/>
          <p:nvPr/>
        </p:nvSpPr>
        <p:spPr>
          <a:xfrm>
            <a:off x="7313371" y="512064"/>
            <a:ext cx="2227478" cy="475488"/>
          </a:xfrm>
          <a:prstGeom prst="roundRect">
            <a:avLst>
              <a:gd name="adj" fmla="val 13462"/>
            </a:avLst>
          </a:prstGeom>
          <a:solidFill>
            <a:srgbClr val="44309A"/>
          </a:solidFill>
          <a:ln/>
        </p:spPr>
      </p:sp>
      <p:sp>
        <p:nvSpPr>
          <p:cNvPr id="54" name="Shape 39"/>
          <p:cNvSpPr/>
          <p:nvPr/>
        </p:nvSpPr>
        <p:spPr>
          <a:xfrm>
            <a:off x="7313371" y="749808"/>
            <a:ext cx="2227478" cy="237744"/>
          </a:xfrm>
          <a:prstGeom prst="rect">
            <a:avLst/>
          </a:prstGeom>
          <a:solidFill>
            <a:srgbClr val="44309A"/>
          </a:solidFill>
          <a:ln/>
        </p:spPr>
      </p:sp>
      <p:sp>
        <p:nvSpPr>
          <p:cNvPr id="55" name="Shape 40"/>
          <p:cNvSpPr/>
          <p:nvPr/>
        </p:nvSpPr>
        <p:spPr>
          <a:xfrm>
            <a:off x="7441387" y="585216"/>
            <a:ext cx="329184" cy="329184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13808" y="657636"/>
            <a:ext cx="184343" cy="184343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7825435" y="539496"/>
            <a:ext cx="166055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PHASE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50" dirty="0"/>
          </a:p>
        </p:txBody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77963" y="1124712"/>
            <a:ext cx="237744" cy="237744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7825435" y="1069848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</a:t>
            </a:r>
            <a:endParaRPr lang="en-US" sz="850" dirty="0"/>
          </a:p>
        </p:txBody>
      </p:sp>
      <p:sp>
        <p:nvSpPr>
          <p:cNvPr id="60" name="Text 43"/>
          <p:cNvSpPr/>
          <p:nvPr/>
        </p:nvSpPr>
        <p:spPr>
          <a:xfrm>
            <a:off x="7825435" y="1220724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comprehensive functional and non-functional test cases.</a:t>
            </a:r>
            <a:endParaRPr lang="en-US" sz="700" dirty="0"/>
          </a:p>
        </p:txBody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7963" y="1552651"/>
            <a:ext cx="237744" cy="237744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7825435" y="1497787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Generation</a:t>
            </a:r>
            <a:endParaRPr lang="en-US" sz="850" dirty="0"/>
          </a:p>
        </p:txBody>
      </p:sp>
      <p:sp>
        <p:nvSpPr>
          <p:cNvPr id="63" name="Text 45"/>
          <p:cNvSpPr/>
          <p:nvPr/>
        </p:nvSpPr>
        <p:spPr>
          <a:xfrm>
            <a:off x="7825435" y="1648663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synthetic and masked test data.</a:t>
            </a:r>
            <a:endParaRPr lang="en-US" sz="700" dirty="0"/>
          </a:p>
        </p:txBody>
      </p:sp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77963" y="1980590"/>
            <a:ext cx="237744" cy="237744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7825435" y="1925726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850" dirty="0"/>
          </a:p>
        </p:txBody>
      </p:sp>
      <p:sp>
        <p:nvSpPr>
          <p:cNvPr id="66" name="Text 47"/>
          <p:cNvSpPr/>
          <p:nvPr/>
        </p:nvSpPr>
        <p:spPr>
          <a:xfrm>
            <a:off x="7825435" y="2076602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defects using AI analysis and patterns.</a:t>
            </a:r>
            <a:endParaRPr lang="en-US" sz="700" dirty="0"/>
          </a:p>
        </p:txBody>
      </p:sp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77963" y="2408530"/>
            <a:ext cx="237744" cy="237744"/>
          </a:xfrm>
          <a:prstGeom prst="rect">
            <a:avLst/>
          </a:prstGeom>
        </p:spPr>
      </p:pic>
      <p:sp>
        <p:nvSpPr>
          <p:cNvPr id="68" name="Text 48"/>
          <p:cNvSpPr/>
          <p:nvPr/>
        </p:nvSpPr>
        <p:spPr>
          <a:xfrm>
            <a:off x="7825435" y="2353666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 Automation</a:t>
            </a:r>
            <a:endParaRPr lang="en-US" sz="850" dirty="0"/>
          </a:p>
        </p:txBody>
      </p:sp>
      <p:sp>
        <p:nvSpPr>
          <p:cNvPr id="69" name="Text 49"/>
          <p:cNvSpPr/>
          <p:nvPr/>
        </p:nvSpPr>
        <p:spPr>
          <a:xfrm>
            <a:off x="7825435" y="2504542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end-to-end test automation scripts.</a:t>
            </a:r>
            <a:endParaRPr lang="en-US" sz="700" dirty="0"/>
          </a:p>
        </p:txBody>
      </p:sp>
      <p:pic>
        <p:nvPicPr>
          <p:cNvPr id="7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7963" y="2836469"/>
            <a:ext cx="237744" cy="237744"/>
          </a:xfrm>
          <a:prstGeom prst="rect">
            <a:avLst/>
          </a:prstGeom>
        </p:spPr>
      </p:pic>
      <p:sp>
        <p:nvSpPr>
          <p:cNvPr id="71" name="Text 50"/>
          <p:cNvSpPr/>
          <p:nvPr/>
        </p:nvSpPr>
        <p:spPr>
          <a:xfrm>
            <a:off x="7825435" y="2781605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850" dirty="0"/>
          </a:p>
        </p:txBody>
      </p:sp>
      <p:sp>
        <p:nvSpPr>
          <p:cNvPr id="72" name="Text 51"/>
          <p:cNvSpPr/>
          <p:nvPr/>
        </p:nvSpPr>
        <p:spPr>
          <a:xfrm>
            <a:off x="7825435" y="2932481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impact and ensures no regressions.</a:t>
            </a:r>
            <a:endParaRPr lang="en-US" sz="700" dirty="0"/>
          </a:p>
        </p:txBody>
      </p:sp>
      <p:sp>
        <p:nvSpPr>
          <p:cNvPr id="73" name="Shape 52"/>
          <p:cNvSpPr/>
          <p:nvPr/>
        </p:nvSpPr>
        <p:spPr>
          <a:xfrm>
            <a:off x="9659722" y="512064"/>
            <a:ext cx="2227478" cy="2798064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4" name="Shape 53"/>
          <p:cNvSpPr/>
          <p:nvPr/>
        </p:nvSpPr>
        <p:spPr>
          <a:xfrm>
            <a:off x="9659722" y="512064"/>
            <a:ext cx="2227478" cy="475488"/>
          </a:xfrm>
          <a:prstGeom prst="roundRect">
            <a:avLst>
              <a:gd name="adj" fmla="val 13462"/>
            </a:avLst>
          </a:prstGeom>
          <a:solidFill>
            <a:srgbClr val="E8541E"/>
          </a:solidFill>
          <a:ln/>
        </p:spPr>
      </p:sp>
      <p:sp>
        <p:nvSpPr>
          <p:cNvPr id="75" name="Shape 54"/>
          <p:cNvSpPr/>
          <p:nvPr/>
        </p:nvSpPr>
        <p:spPr>
          <a:xfrm>
            <a:off x="9659722" y="749808"/>
            <a:ext cx="2227478" cy="23774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76" name="Shape 55"/>
          <p:cNvSpPr/>
          <p:nvPr/>
        </p:nvSpPr>
        <p:spPr>
          <a:xfrm>
            <a:off x="9787738" y="585216"/>
            <a:ext cx="329184" cy="329184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7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60158" y="657636"/>
            <a:ext cx="184343" cy="184343"/>
          </a:xfrm>
          <a:prstGeom prst="rect">
            <a:avLst/>
          </a:prstGeom>
        </p:spPr>
      </p:pic>
      <p:sp>
        <p:nvSpPr>
          <p:cNvPr id="78" name="Text 56"/>
          <p:cNvSpPr/>
          <p:nvPr/>
        </p:nvSpPr>
        <p:spPr>
          <a:xfrm>
            <a:off x="10171786" y="539496"/>
            <a:ext cx="166055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PHASE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</a:t>
            </a:r>
            <a:endParaRPr lang="en-US" sz="1050" dirty="0"/>
          </a:p>
        </p:txBody>
      </p:sp>
      <p:pic>
        <p:nvPicPr>
          <p:cNvPr id="7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24314" y="1124712"/>
            <a:ext cx="237744" cy="237744"/>
          </a:xfrm>
          <a:prstGeom prst="rect">
            <a:avLst/>
          </a:prstGeom>
        </p:spPr>
      </p:pic>
      <p:sp>
        <p:nvSpPr>
          <p:cNvPr id="80" name="Text 57"/>
          <p:cNvSpPr/>
          <p:nvPr/>
        </p:nvSpPr>
        <p:spPr>
          <a:xfrm>
            <a:off x="10171786" y="1069848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Build Agent</a:t>
            </a:r>
            <a:endParaRPr lang="en-US" sz="850" dirty="0"/>
          </a:p>
        </p:txBody>
      </p:sp>
      <p:sp>
        <p:nvSpPr>
          <p:cNvPr id="81" name="Text 58"/>
          <p:cNvSpPr/>
          <p:nvPr/>
        </p:nvSpPr>
        <p:spPr>
          <a:xfrm>
            <a:off x="10171786" y="1220724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build, validation and quality checks for PRs.</a:t>
            </a:r>
            <a:endParaRPr lang="en-US" sz="700" dirty="0"/>
          </a:p>
        </p:txBody>
      </p:sp>
      <p:pic>
        <p:nvPicPr>
          <p:cNvPr id="8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24314" y="1552651"/>
            <a:ext cx="237744" cy="237744"/>
          </a:xfrm>
          <a:prstGeom prst="rect">
            <a:avLst/>
          </a:prstGeom>
        </p:spPr>
      </p:pic>
      <p:sp>
        <p:nvSpPr>
          <p:cNvPr id="83" name="Text 59"/>
          <p:cNvSpPr/>
          <p:nvPr/>
        </p:nvSpPr>
        <p:spPr>
          <a:xfrm>
            <a:off x="10171786" y="1497787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Agent</a:t>
            </a:r>
            <a:endParaRPr lang="en-US" sz="850" dirty="0"/>
          </a:p>
        </p:txBody>
      </p:sp>
      <p:sp>
        <p:nvSpPr>
          <p:cNvPr id="84" name="Text 60"/>
          <p:cNvSpPr/>
          <p:nvPr/>
        </p:nvSpPr>
        <p:spPr>
          <a:xfrm>
            <a:off x="10171786" y="1648663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application deployment across environments.</a:t>
            </a:r>
            <a:endParaRPr lang="en-US" sz="700" dirty="0"/>
          </a:p>
        </p:txBody>
      </p:sp>
      <p:pic>
        <p:nvPicPr>
          <p:cNvPr id="8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24314" y="1980590"/>
            <a:ext cx="237744" cy="237744"/>
          </a:xfrm>
          <a:prstGeom prst="rect">
            <a:avLst/>
          </a:prstGeom>
        </p:spPr>
      </p:pic>
      <p:sp>
        <p:nvSpPr>
          <p:cNvPr id="86" name="Text 61"/>
          <p:cNvSpPr/>
          <p:nvPr/>
        </p:nvSpPr>
        <p:spPr>
          <a:xfrm>
            <a:off x="10171786" y="1925726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Agent</a:t>
            </a:r>
            <a:endParaRPr lang="en-US" sz="850" dirty="0"/>
          </a:p>
        </p:txBody>
      </p:sp>
      <p:sp>
        <p:nvSpPr>
          <p:cNvPr id="87" name="Text 62"/>
          <p:cNvSpPr/>
          <p:nvPr/>
        </p:nvSpPr>
        <p:spPr>
          <a:xfrm>
            <a:off x="10171786" y="2076602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scans and manages Docker images.</a:t>
            </a:r>
            <a:endParaRPr lang="en-US" sz="700" dirty="0"/>
          </a:p>
        </p:txBody>
      </p:sp>
      <p:pic>
        <p:nvPicPr>
          <p:cNvPr id="8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24314" y="2408530"/>
            <a:ext cx="237744" cy="237744"/>
          </a:xfrm>
          <a:prstGeom prst="rect">
            <a:avLst/>
          </a:prstGeom>
        </p:spPr>
      </p:pic>
      <p:sp>
        <p:nvSpPr>
          <p:cNvPr id="89" name="Text 63"/>
          <p:cNvSpPr/>
          <p:nvPr/>
        </p:nvSpPr>
        <p:spPr>
          <a:xfrm>
            <a:off x="10171786" y="2353666"/>
            <a:ext cx="160568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Agent</a:t>
            </a:r>
            <a:endParaRPr lang="en-US" sz="850" dirty="0"/>
          </a:p>
        </p:txBody>
      </p:sp>
      <p:sp>
        <p:nvSpPr>
          <p:cNvPr id="90" name="Text 64"/>
          <p:cNvSpPr/>
          <p:nvPr/>
        </p:nvSpPr>
        <p:spPr>
          <a:xfrm>
            <a:off x="10171786" y="2504542"/>
            <a:ext cx="1605686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CI/CD workflows and pipeline automation.</a:t>
            </a:r>
            <a:endParaRPr lang="en-US" sz="700" dirty="0"/>
          </a:p>
        </p:txBody>
      </p:sp>
      <p:sp>
        <p:nvSpPr>
          <p:cNvPr id="91" name="Shape 65"/>
          <p:cNvSpPr/>
          <p:nvPr/>
        </p:nvSpPr>
        <p:spPr>
          <a:xfrm>
            <a:off x="274320" y="3364992"/>
            <a:ext cx="11612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2" name="Text 66"/>
          <p:cNvSpPr/>
          <p:nvPr/>
        </p:nvSpPr>
        <p:spPr>
          <a:xfrm>
            <a:off x="274320" y="3392424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pPr algn="ctr" indent="0" marL="0">
              <a:buNone/>
            </a:pPr>
            <a:r>
              <a:rPr lang="en-US" sz="9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(Across All Phases)</a:t>
            </a:r>
            <a:endParaRPr lang="en-US" sz="1050" dirty="0"/>
          </a:p>
        </p:txBody>
      </p:sp>
      <p:sp>
        <p:nvSpPr>
          <p:cNvPr id="93" name="Shape 67"/>
          <p:cNvSpPr/>
          <p:nvPr/>
        </p:nvSpPr>
        <p:spPr>
          <a:xfrm rot="5400000">
            <a:off x="4572000" y="3584448"/>
            <a:ext cx="237744" cy="237744"/>
          </a:xfrm>
          <a:prstGeom prst="hexagon">
            <a:avLst/>
          </a:prstGeom>
          <a:solidFill>
            <a:srgbClr val="2E5FAE"/>
          </a:solidFill>
          <a:ln/>
        </p:spPr>
      </p:sp>
      <p:sp>
        <p:nvSpPr>
          <p:cNvPr id="94" name="Shape 68"/>
          <p:cNvSpPr/>
          <p:nvPr/>
        </p:nvSpPr>
        <p:spPr>
          <a:xfrm rot="5400000">
            <a:off x="4624304" y="3636752"/>
            <a:ext cx="133137" cy="133137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95" name="Text 69"/>
          <p:cNvSpPr/>
          <p:nvPr/>
        </p:nvSpPr>
        <p:spPr>
          <a:xfrm>
            <a:off x="4864608" y="35478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</a:t>
            </a:r>
            <a:endParaRPr lang="en-US" sz="1100" dirty="0"/>
          </a:p>
        </p:txBody>
      </p:sp>
      <p:pic>
        <p:nvPicPr>
          <p:cNvPr id="9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72200" y="3575304"/>
            <a:ext cx="256032" cy="256032"/>
          </a:xfrm>
          <a:prstGeom prst="rect">
            <a:avLst/>
          </a:prstGeom>
        </p:spPr>
      </p:pic>
      <p:sp>
        <p:nvSpPr>
          <p:cNvPr id="97" name="Text 70"/>
          <p:cNvSpPr/>
          <p:nvPr/>
        </p:nvSpPr>
        <p:spPr>
          <a:xfrm>
            <a:off x="6492240" y="354787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98" name="Shape 71"/>
          <p:cNvSpPr/>
          <p:nvPr/>
        </p:nvSpPr>
        <p:spPr>
          <a:xfrm>
            <a:off x="274320" y="3877056"/>
            <a:ext cx="5806440" cy="2048256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9" name="Shape 72"/>
          <p:cNvSpPr/>
          <p:nvPr/>
        </p:nvSpPr>
        <p:spPr>
          <a:xfrm>
            <a:off x="6172200" y="3877056"/>
            <a:ext cx="5715000" cy="2048256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0" name="Shape 73"/>
          <p:cNvSpPr/>
          <p:nvPr/>
        </p:nvSpPr>
        <p:spPr>
          <a:xfrm>
            <a:off x="274320" y="3877056"/>
            <a:ext cx="5806440" cy="274320"/>
          </a:xfrm>
          <a:prstGeom prst="roundRect">
            <a:avLst>
              <a:gd name="adj" fmla="val 23333"/>
            </a:avLst>
          </a:prstGeom>
          <a:solidFill>
            <a:srgbClr val="0B1640"/>
          </a:solidFill>
          <a:ln/>
        </p:spPr>
      </p:sp>
      <p:sp>
        <p:nvSpPr>
          <p:cNvPr id="101" name="Shape 74"/>
          <p:cNvSpPr/>
          <p:nvPr/>
        </p:nvSpPr>
        <p:spPr>
          <a:xfrm>
            <a:off x="274320" y="4014216"/>
            <a:ext cx="5806440" cy="137160"/>
          </a:xfrm>
          <a:prstGeom prst="rect">
            <a:avLst/>
          </a:prstGeom>
          <a:solidFill>
            <a:srgbClr val="0B1640"/>
          </a:solidFill>
          <a:ln/>
        </p:spPr>
      </p:sp>
      <p:sp>
        <p:nvSpPr>
          <p:cNvPr id="102" name="Text 75"/>
          <p:cNvSpPr/>
          <p:nvPr/>
        </p:nvSpPr>
        <p:spPr>
          <a:xfrm>
            <a:off x="274320" y="3877056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MDM – AI in SDLC  |  Workshop Update</a:t>
            </a:r>
            <a:endParaRPr lang="en-US" sz="1050" dirty="0"/>
          </a:p>
        </p:txBody>
      </p:sp>
      <p:sp>
        <p:nvSpPr>
          <p:cNvPr id="103" name="Shape 76"/>
          <p:cNvSpPr/>
          <p:nvPr/>
        </p:nvSpPr>
        <p:spPr>
          <a:xfrm>
            <a:off x="6172200" y="3877056"/>
            <a:ext cx="5715000" cy="274320"/>
          </a:xfrm>
          <a:prstGeom prst="roundRect">
            <a:avLst>
              <a:gd name="adj" fmla="val 23333"/>
            </a:avLst>
          </a:prstGeom>
          <a:solidFill>
            <a:srgbClr val="0B1640"/>
          </a:solidFill>
          <a:ln/>
        </p:spPr>
      </p:sp>
      <p:sp>
        <p:nvSpPr>
          <p:cNvPr id="104" name="Shape 77"/>
          <p:cNvSpPr/>
          <p:nvPr/>
        </p:nvSpPr>
        <p:spPr>
          <a:xfrm>
            <a:off x="6172200" y="4014216"/>
            <a:ext cx="5715000" cy="137160"/>
          </a:xfrm>
          <a:prstGeom prst="rect">
            <a:avLst/>
          </a:prstGeom>
          <a:solidFill>
            <a:srgbClr val="0B1640"/>
          </a:solidFill>
          <a:ln/>
        </p:spPr>
      </p:sp>
      <p:sp>
        <p:nvSpPr>
          <p:cNvPr id="105" name="Text 78"/>
          <p:cNvSpPr/>
          <p:nvPr/>
        </p:nvSpPr>
        <p:spPr>
          <a:xfrm>
            <a:off x="6172200" y="3877056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NEXT STEPS</a:t>
            </a:r>
            <a:endParaRPr lang="en-US" sz="1050" dirty="0"/>
          </a:p>
        </p:txBody>
      </p:sp>
      <p:sp>
        <p:nvSpPr>
          <p:cNvPr id="106" name="Shape 79"/>
          <p:cNvSpPr/>
          <p:nvPr/>
        </p:nvSpPr>
        <p:spPr>
          <a:xfrm>
            <a:off x="3328416" y="4261104"/>
            <a:ext cx="0" cy="1554480"/>
          </a:xfrm>
          <a:prstGeom prst="line">
            <a:avLst/>
          </a:prstGeom>
          <a:noFill/>
          <a:ln w="12700">
            <a:solidFill>
              <a:srgbClr val="E2E7F0"/>
            </a:solidFill>
            <a:prstDash val="solid"/>
          </a:ln>
        </p:spPr>
      </p:sp>
      <p:pic>
        <p:nvPicPr>
          <p:cNvPr id="10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2336" y="4261104"/>
            <a:ext cx="182880" cy="182880"/>
          </a:xfrm>
          <a:prstGeom prst="rect">
            <a:avLst/>
          </a:prstGeom>
        </p:spPr>
      </p:pic>
      <p:sp>
        <p:nvSpPr>
          <p:cNvPr id="108" name="Text 80"/>
          <p:cNvSpPr/>
          <p:nvPr/>
        </p:nvSpPr>
        <p:spPr>
          <a:xfrm>
            <a:off x="640080" y="42428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000" dirty="0"/>
          </a:p>
        </p:txBody>
      </p:sp>
      <p:pic>
        <p:nvPicPr>
          <p:cNvPr id="10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2336" y="4535424"/>
            <a:ext cx="146304" cy="146304"/>
          </a:xfrm>
          <a:prstGeom prst="rect">
            <a:avLst/>
          </a:prstGeom>
        </p:spPr>
      </p:pic>
      <p:sp>
        <p:nvSpPr>
          <p:cNvPr id="110" name="Text 81"/>
          <p:cNvSpPr/>
          <p:nvPr/>
        </p:nvSpPr>
        <p:spPr>
          <a:xfrm>
            <a:off x="621792" y="4489704"/>
            <a:ext cx="2670048" cy="370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end-to-end AI in SDLC demo aligned to 60-day plan (Requirements → Deployment)</a:t>
            </a:r>
            <a:endParaRPr lang="en-US" sz="690" dirty="0"/>
          </a:p>
        </p:txBody>
      </p:sp>
      <p:pic>
        <p:nvPicPr>
          <p:cNvPr id="11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2336" y="4905756"/>
            <a:ext cx="146304" cy="146304"/>
          </a:xfrm>
          <a:prstGeom prst="rect">
            <a:avLst/>
          </a:prstGeom>
        </p:spPr>
      </p:pic>
      <p:sp>
        <p:nvSpPr>
          <p:cNvPr id="112" name="Text 82"/>
          <p:cNvSpPr/>
          <p:nvPr/>
        </p:nvSpPr>
        <p:spPr>
          <a:xfrm>
            <a:off x="621792" y="4860036"/>
            <a:ext cx="2670048" cy="370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Showcased Rovo &amp; GitHub Copilot agents across BRD, LLD, Dev, Test, and Deployment</a:t>
            </a:r>
            <a:endParaRPr lang="en-US" sz="690" dirty="0"/>
          </a:p>
        </p:txBody>
      </p:sp>
      <p:pic>
        <p:nvPicPr>
          <p:cNvPr id="11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2336" y="5276088"/>
            <a:ext cx="146304" cy="146304"/>
          </a:xfrm>
          <a:prstGeom prst="rect">
            <a:avLst/>
          </a:prstGeom>
        </p:spPr>
      </p:pic>
      <p:sp>
        <p:nvSpPr>
          <p:cNvPr id="114" name="Text 83"/>
          <p:cNvSpPr/>
          <p:nvPr/>
        </p:nvSpPr>
        <p:spPr>
          <a:xfrm>
            <a:off x="621792" y="5230368"/>
            <a:ext cx="2670048" cy="370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BRD generation from meeting transcripts (Store Order Cycle use case)</a:t>
            </a:r>
            <a:endParaRPr lang="en-US" sz="690" dirty="0"/>
          </a:p>
        </p:txBody>
      </p:sp>
      <p:pic>
        <p:nvPicPr>
          <p:cNvPr id="1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2336" y="5646420"/>
            <a:ext cx="146304" cy="146304"/>
          </a:xfrm>
          <a:prstGeom prst="rect">
            <a:avLst/>
          </a:prstGeom>
        </p:spPr>
      </p:pic>
      <p:sp>
        <p:nvSpPr>
          <p:cNvPr id="116" name="Text 84"/>
          <p:cNvSpPr/>
          <p:nvPr/>
        </p:nvSpPr>
        <p:spPr>
          <a:xfrm>
            <a:off x="621792" y="5600700"/>
            <a:ext cx="2670048" cy="370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strong engagement from Product (Roopali Revenkar &amp; PO Team) and Engineering</a:t>
            </a:r>
            <a:endParaRPr lang="en-US" sz="690" dirty="0"/>
          </a:p>
        </p:txBody>
      </p:sp>
      <p:pic>
        <p:nvPicPr>
          <p:cNvPr id="117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19856" y="4261104"/>
            <a:ext cx="182880" cy="182880"/>
          </a:xfrm>
          <a:prstGeom prst="rect">
            <a:avLst/>
          </a:prstGeom>
        </p:spPr>
      </p:pic>
      <p:sp>
        <p:nvSpPr>
          <p:cNvPr id="118" name="Text 85"/>
          <p:cNvSpPr/>
          <p:nvPr/>
        </p:nvSpPr>
        <p:spPr>
          <a:xfrm>
            <a:off x="3657600" y="4242816"/>
            <a:ext cx="2295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pic>
        <p:nvPicPr>
          <p:cNvPr id="119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419856" y="4572000"/>
            <a:ext cx="146304" cy="146304"/>
          </a:xfrm>
          <a:prstGeom prst="rect">
            <a:avLst/>
          </a:prstGeom>
        </p:spPr>
      </p:pic>
      <p:sp>
        <p:nvSpPr>
          <p:cNvPr id="120" name="Text 86"/>
          <p:cNvSpPr/>
          <p:nvPr/>
        </p:nvSpPr>
        <p:spPr>
          <a:xfrm>
            <a:off x="3639312" y="452628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practical AI adoption across SDLC lifecycle</a:t>
            </a:r>
            <a:endParaRPr lang="en-US" sz="720" dirty="0"/>
          </a:p>
        </p:txBody>
      </p:sp>
      <p:pic>
        <p:nvPicPr>
          <p:cNvPr id="12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19856" y="5029200"/>
            <a:ext cx="146304" cy="146304"/>
          </a:xfrm>
          <a:prstGeom prst="rect">
            <a:avLst/>
          </a:prstGeom>
        </p:spPr>
      </p:pic>
      <p:sp>
        <p:nvSpPr>
          <p:cNvPr id="122" name="Text 87"/>
          <p:cNvSpPr/>
          <p:nvPr/>
        </p:nvSpPr>
        <p:spPr>
          <a:xfrm>
            <a:off x="3639312" y="498348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requirements-to-deployment cycle via automation</a:t>
            </a:r>
            <a:endParaRPr lang="en-US" sz="720" dirty="0"/>
          </a:p>
        </p:txBody>
      </p:sp>
      <p:pic>
        <p:nvPicPr>
          <p:cNvPr id="123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19856" y="5486400"/>
            <a:ext cx="146304" cy="146304"/>
          </a:xfrm>
          <a:prstGeom prst="rect">
            <a:avLst/>
          </a:prstGeom>
        </p:spPr>
      </p:pic>
      <p:sp>
        <p:nvSpPr>
          <p:cNvPr id="124" name="Text 88"/>
          <p:cNvSpPr/>
          <p:nvPr/>
        </p:nvSpPr>
        <p:spPr>
          <a:xfrm>
            <a:off x="3639312" y="544068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confidence for scaled adoption across Supply Chain domains</a:t>
            </a:r>
            <a:endParaRPr lang="en-US" sz="720" dirty="0"/>
          </a:p>
        </p:txBody>
      </p:sp>
      <p:pic>
        <p:nvPicPr>
          <p:cNvPr id="125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00216" y="4261104"/>
            <a:ext cx="237744" cy="237744"/>
          </a:xfrm>
          <a:prstGeom prst="rect">
            <a:avLst/>
          </a:prstGeom>
        </p:spPr>
      </p:pic>
      <p:sp>
        <p:nvSpPr>
          <p:cNvPr id="126" name="Text 89"/>
          <p:cNvSpPr/>
          <p:nvPr/>
        </p:nvSpPr>
        <p:spPr>
          <a:xfrm>
            <a:off x="6592824" y="4224528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</a:t>
            </a:r>
            <a:endParaRPr lang="en-US" sz="9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(Roopali Revenkar &amp; PO Team)</a:t>
            </a:r>
            <a:endParaRPr lang="en-US" sz="900" dirty="0"/>
          </a:p>
        </p:txBody>
      </p:sp>
      <p:sp>
        <p:nvSpPr>
          <p:cNvPr id="127" name="Text 90"/>
          <p:cNvSpPr/>
          <p:nvPr/>
        </p:nvSpPr>
        <p:spPr>
          <a:xfrm>
            <a:off x="6336792" y="4590288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use cases: BRD from process maps, legacy docs, emails, chats, Confluence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Elizabeth Rout &amp; Chinmayee N to run agent design sessions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BRD templates &amp; input/output standardisation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process maps in Miro</a:t>
            </a:r>
            <a:endParaRPr lang="en-US" sz="680" dirty="0"/>
          </a:p>
        </p:txBody>
      </p:sp>
      <p:pic>
        <p:nvPicPr>
          <p:cNvPr id="12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165592" y="4261104"/>
            <a:ext cx="237744" cy="237744"/>
          </a:xfrm>
          <a:prstGeom prst="rect">
            <a:avLst/>
          </a:prstGeom>
        </p:spPr>
      </p:pic>
      <p:sp>
        <p:nvSpPr>
          <p:cNvPr id="129" name="Text 91"/>
          <p:cNvSpPr/>
          <p:nvPr/>
        </p:nvSpPr>
        <p:spPr>
          <a:xfrm>
            <a:off x="8458200" y="4224528"/>
            <a:ext cx="14904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Leadership</a:t>
            </a:r>
            <a:endParaRPr lang="en-US" sz="9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(Chris Armstrong)</a:t>
            </a:r>
            <a:endParaRPr lang="en-US" sz="900" dirty="0"/>
          </a:p>
        </p:txBody>
      </p:sp>
      <p:sp>
        <p:nvSpPr>
          <p:cNvPr id="130" name="Text 92"/>
          <p:cNvSpPr/>
          <p:nvPr/>
        </p:nvSpPr>
        <p:spPr>
          <a:xfrm>
            <a:off x="8202168" y="4590288"/>
            <a:ext cx="17282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phase-wise deep dive sessions (Req → Deploy)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TCS AI Team (external to MDM) to deliver end-to-end demos</a:t>
            </a:r>
            <a:endParaRPr lang="en-US" sz="680" dirty="0"/>
          </a:p>
        </p:txBody>
      </p:sp>
      <p:pic>
        <p:nvPicPr>
          <p:cNvPr id="131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85248" y="4261104"/>
            <a:ext cx="237744" cy="237744"/>
          </a:xfrm>
          <a:prstGeom prst="rect">
            <a:avLst/>
          </a:prstGeom>
        </p:spPr>
      </p:pic>
      <p:sp>
        <p:nvSpPr>
          <p:cNvPr id="132" name="Text 93"/>
          <p:cNvSpPr/>
          <p:nvPr/>
        </p:nvSpPr>
        <p:spPr>
          <a:xfrm>
            <a:off x="10277856" y="4224528"/>
            <a:ext cx="14904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Enablement</a:t>
            </a:r>
            <a:endParaRPr lang="en-US" sz="9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 &amp; HOEs)</a:t>
            </a:r>
            <a:endParaRPr lang="en-US" sz="900" dirty="0"/>
          </a:p>
        </p:txBody>
      </p:sp>
      <p:sp>
        <p:nvSpPr>
          <p:cNvPr id="133" name="Text 94"/>
          <p:cNvSpPr/>
          <p:nvPr/>
        </p:nvSpPr>
        <p:spPr>
          <a:xfrm>
            <a:off x="10021824" y="4590288"/>
            <a:ext cx="17282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demo sessions to build adoption confidence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training, guidelines, code quality, security checks &amp; productivity metrics</a:t>
            </a:r>
            <a:endParaRPr lang="en-US" sz="680" dirty="0"/>
          </a:p>
        </p:txBody>
      </p:sp>
      <p:sp>
        <p:nvSpPr>
          <p:cNvPr id="134" name="Shape 95"/>
          <p:cNvSpPr/>
          <p:nvPr/>
        </p:nvSpPr>
        <p:spPr>
          <a:xfrm>
            <a:off x="6281928" y="5504688"/>
            <a:ext cx="5495544" cy="365760"/>
          </a:xfrm>
          <a:prstGeom prst="roundRect">
            <a:avLst>
              <a:gd name="adj" fmla="val 15000"/>
            </a:avLst>
          </a:prstGeom>
          <a:solidFill>
            <a:srgbClr val="FBF2D4"/>
          </a:solidFill>
          <a:ln w="12700">
            <a:solidFill>
              <a:srgbClr val="EAD79A"/>
            </a:solidFill>
            <a:prstDash val="solid"/>
          </a:ln>
        </p:spPr>
      </p:sp>
      <p:pic>
        <p:nvPicPr>
          <p:cNvPr id="135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409944" y="5596128"/>
            <a:ext cx="201168" cy="201168"/>
          </a:xfrm>
          <a:prstGeom prst="rect">
            <a:avLst/>
          </a:prstGeom>
        </p:spPr>
      </p:pic>
      <p:sp>
        <p:nvSpPr>
          <p:cNvPr id="136" name="Text 96"/>
          <p:cNvSpPr/>
          <p:nvPr/>
        </p:nvSpPr>
        <p:spPr>
          <a:xfrm>
            <a:off x="6665976" y="55046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ASK</a:t>
            </a:r>
            <a:endParaRPr lang="en-US" sz="850" dirty="0"/>
          </a:p>
        </p:txBody>
      </p:sp>
      <p:sp>
        <p:nvSpPr>
          <p:cNvPr id="137" name="Text 97"/>
          <p:cNvSpPr/>
          <p:nvPr/>
        </p:nvSpPr>
        <p:spPr>
          <a:xfrm>
            <a:off x="7799832" y="5504688"/>
            <a:ext cx="3941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Rout / Chinmayee N to align with Roopali Revenkar &amp; Chris Armstrong on availability and scheduling of next workshops &amp; adoption roadmap.</a:t>
            </a:r>
            <a:endParaRPr lang="en-US" sz="720" dirty="0"/>
          </a:p>
        </p:txBody>
      </p:sp>
      <p:sp>
        <p:nvSpPr>
          <p:cNvPr id="138" name="Shape 98"/>
          <p:cNvSpPr/>
          <p:nvPr/>
        </p:nvSpPr>
        <p:spPr>
          <a:xfrm>
            <a:off x="274320" y="5998464"/>
            <a:ext cx="11612880" cy="713232"/>
          </a:xfrm>
          <a:prstGeom prst="roundRect">
            <a:avLst>
              <a:gd name="adj" fmla="val 7692"/>
            </a:avLst>
          </a:prstGeom>
          <a:solidFill>
            <a:srgbClr val="F5F6F9"/>
          </a:solidFill>
          <a:ln/>
        </p:spPr>
      </p:sp>
      <p:sp>
        <p:nvSpPr>
          <p:cNvPr id="139" name="Shape 99"/>
          <p:cNvSpPr/>
          <p:nvPr/>
        </p:nvSpPr>
        <p:spPr>
          <a:xfrm>
            <a:off x="274320" y="5998464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0B1640"/>
          </a:solidFill>
          <a:ln/>
        </p:spPr>
      </p:sp>
      <p:sp>
        <p:nvSpPr>
          <p:cNvPr id="140" name="Text 100"/>
          <p:cNvSpPr/>
          <p:nvPr/>
        </p:nvSpPr>
        <p:spPr>
          <a:xfrm>
            <a:off x="274320" y="60716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50" dirty="0"/>
          </a:p>
        </p:txBody>
      </p:sp>
      <p:pic>
        <p:nvPicPr>
          <p:cNvPr id="141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92124" y="6400800"/>
            <a:ext cx="256032" cy="256032"/>
          </a:xfrm>
          <a:prstGeom prst="rect">
            <a:avLst/>
          </a:prstGeom>
        </p:spPr>
      </p:pic>
      <p:pic>
        <p:nvPicPr>
          <p:cNvPr id="142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145536" y="6053328"/>
            <a:ext cx="292608" cy="292608"/>
          </a:xfrm>
          <a:prstGeom prst="rect">
            <a:avLst/>
          </a:prstGeom>
        </p:spPr>
      </p:pic>
      <p:sp>
        <p:nvSpPr>
          <p:cNvPr id="143" name="Text 101"/>
          <p:cNvSpPr/>
          <p:nvPr/>
        </p:nvSpPr>
        <p:spPr>
          <a:xfrm>
            <a:off x="2148840" y="636422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800" dirty="0"/>
          </a:p>
        </p:txBody>
      </p:sp>
      <p:sp>
        <p:nvSpPr>
          <p:cNvPr id="144" name="Text 102"/>
          <p:cNvSpPr/>
          <p:nvPr/>
        </p:nvSpPr>
        <p:spPr>
          <a:xfrm>
            <a:off x="2148840" y="65013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faster development from requirements to production</a:t>
            </a:r>
            <a:endParaRPr lang="en-US" sz="700" dirty="0"/>
          </a:p>
        </p:txBody>
      </p:sp>
      <p:pic>
        <p:nvPicPr>
          <p:cNvPr id="145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629656" y="6053328"/>
            <a:ext cx="292608" cy="292608"/>
          </a:xfrm>
          <a:prstGeom prst="rect">
            <a:avLst/>
          </a:prstGeom>
        </p:spPr>
      </p:pic>
      <p:sp>
        <p:nvSpPr>
          <p:cNvPr id="146" name="Text 103"/>
          <p:cNvSpPr/>
          <p:nvPr/>
        </p:nvSpPr>
        <p:spPr>
          <a:xfrm>
            <a:off x="4632960" y="636422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</a:t>
            </a:r>
            <a:endParaRPr lang="en-US" sz="800" dirty="0"/>
          </a:p>
        </p:txBody>
      </p:sp>
      <p:sp>
        <p:nvSpPr>
          <p:cNvPr id="147" name="Text 104"/>
          <p:cNvSpPr/>
          <p:nvPr/>
        </p:nvSpPr>
        <p:spPr>
          <a:xfrm>
            <a:off x="4632960" y="65013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from requirements to production</a:t>
            </a:r>
            <a:endParaRPr lang="en-US" sz="700" dirty="0"/>
          </a:p>
        </p:txBody>
      </p:sp>
      <p:pic>
        <p:nvPicPr>
          <p:cNvPr id="148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113776" y="6053328"/>
            <a:ext cx="292608" cy="292608"/>
          </a:xfrm>
          <a:prstGeom prst="rect">
            <a:avLst/>
          </a:prstGeom>
        </p:spPr>
      </p:pic>
      <p:sp>
        <p:nvSpPr>
          <p:cNvPr id="149" name="Text 105"/>
          <p:cNvSpPr/>
          <p:nvPr/>
        </p:nvSpPr>
        <p:spPr>
          <a:xfrm>
            <a:off x="7117080" y="636422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STANDARDIZATION</a:t>
            </a:r>
            <a:endParaRPr lang="en-US" sz="800" dirty="0"/>
          </a:p>
        </p:txBody>
      </p:sp>
      <p:sp>
        <p:nvSpPr>
          <p:cNvPr id="150" name="Text 106"/>
          <p:cNvSpPr/>
          <p:nvPr/>
        </p:nvSpPr>
        <p:spPr>
          <a:xfrm>
            <a:off x="7117080" y="65013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artifacts and processes across teams</a:t>
            </a:r>
            <a:endParaRPr lang="en-US" sz="700" dirty="0"/>
          </a:p>
        </p:txBody>
      </p:sp>
      <p:pic>
        <p:nvPicPr>
          <p:cNvPr id="15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597896" y="6053328"/>
            <a:ext cx="292608" cy="292608"/>
          </a:xfrm>
          <a:prstGeom prst="rect">
            <a:avLst/>
          </a:prstGeom>
        </p:spPr>
      </p:pic>
      <p:sp>
        <p:nvSpPr>
          <p:cNvPr id="152" name="Text 107"/>
          <p:cNvSpPr/>
          <p:nvPr/>
        </p:nvSpPr>
        <p:spPr>
          <a:xfrm>
            <a:off x="9601200" y="636422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COLLABORATION</a:t>
            </a:r>
            <a:endParaRPr lang="en-US" sz="800" dirty="0"/>
          </a:p>
        </p:txBody>
      </p:sp>
      <p:sp>
        <p:nvSpPr>
          <p:cNvPr id="153" name="Text 108"/>
          <p:cNvSpPr/>
          <p:nvPr/>
        </p:nvSpPr>
        <p:spPr>
          <a:xfrm>
            <a:off x="9601200" y="65013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collaboration across business, dev, test &amp; ops teams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36576"/>
            <a:ext cx="11978640" cy="6766560"/>
          </a:xfrm>
          <a:prstGeom prst="roundRect">
            <a:avLst>
              <a:gd name="adj" fmla="val 676"/>
            </a:avLst>
          </a:prstGeom>
          <a:ln w="12700">
            <a:solidFill>
              <a:srgbClr val="D9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SDLC - SCMDM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20440" y="493776"/>
            <a:ext cx="5120640" cy="310896"/>
          </a:xfrm>
          <a:prstGeom prst="roundRect">
            <a:avLst>
              <a:gd name="adj" fmla="val 50000"/>
            </a:avLst>
          </a:prstGeom>
          <a:solidFill>
            <a:srgbClr val="0B1640"/>
          </a:solidFill>
          <a:ln/>
        </p:spPr>
      </p:sp>
      <p:sp>
        <p:nvSpPr>
          <p:cNvPr id="5" name="Text 3"/>
          <p:cNvSpPr/>
          <p:nvPr/>
        </p:nvSpPr>
        <p:spPr>
          <a:xfrm>
            <a:off x="3520440" y="49377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MDM – AI in SDLC  |  Workshop Update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877824"/>
            <a:ext cx="2395728" cy="621792"/>
          </a:xfrm>
          <a:prstGeom prst="chevron">
            <a:avLst/>
          </a:prstGeom>
          <a:solidFill>
            <a:srgbClr val="2E5FAE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987552"/>
            <a:ext cx="402336" cy="402336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578" y="1076066"/>
            <a:ext cx="225308" cy="2253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877824"/>
            <a:ext cx="13898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20670" y="877824"/>
            <a:ext cx="2395728" cy="621792"/>
          </a:xfrm>
          <a:prstGeom prst="chevron">
            <a:avLst/>
          </a:prstGeom>
          <a:solidFill>
            <a:srgbClr val="3A78C8"/>
          </a:solidFill>
          <a:ln/>
        </p:spPr>
      </p:sp>
      <p:sp>
        <p:nvSpPr>
          <p:cNvPr id="11" name="Shape 8"/>
          <p:cNvSpPr/>
          <p:nvPr/>
        </p:nvSpPr>
        <p:spPr>
          <a:xfrm>
            <a:off x="2858414" y="987552"/>
            <a:ext cx="402336" cy="402336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928" y="1076066"/>
            <a:ext cx="225308" cy="2253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3902" y="877824"/>
            <a:ext cx="13898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67021" y="877824"/>
            <a:ext cx="2395728" cy="621792"/>
          </a:xfrm>
          <a:prstGeom prst="chevron">
            <a:avLst/>
          </a:prstGeom>
          <a:solidFill>
            <a:srgbClr val="2E7D32"/>
          </a:solidFill>
          <a:ln/>
        </p:spPr>
      </p:sp>
      <p:sp>
        <p:nvSpPr>
          <p:cNvPr id="15" name="Shape 11"/>
          <p:cNvSpPr/>
          <p:nvPr/>
        </p:nvSpPr>
        <p:spPr>
          <a:xfrm>
            <a:off x="5204765" y="987552"/>
            <a:ext cx="402336" cy="402336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279" y="1076066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80253" y="877824"/>
            <a:ext cx="13898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DEVELOPMENT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13371" y="877824"/>
            <a:ext cx="2395728" cy="621792"/>
          </a:xfrm>
          <a:prstGeom prst="chevron">
            <a:avLst/>
          </a:prstGeom>
          <a:solidFill>
            <a:srgbClr val="44309A"/>
          </a:solidFill>
          <a:ln/>
        </p:spPr>
      </p:sp>
      <p:sp>
        <p:nvSpPr>
          <p:cNvPr id="19" name="Shape 14"/>
          <p:cNvSpPr/>
          <p:nvPr/>
        </p:nvSpPr>
        <p:spPr>
          <a:xfrm>
            <a:off x="7551115" y="987552"/>
            <a:ext cx="402336" cy="402336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629" y="1076066"/>
            <a:ext cx="225308" cy="2253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26603" y="877824"/>
            <a:ext cx="13898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659722" y="877824"/>
            <a:ext cx="2395728" cy="621792"/>
          </a:xfrm>
          <a:prstGeom prst="chevron">
            <a:avLst/>
          </a:prstGeom>
          <a:solidFill>
            <a:srgbClr val="E8541E"/>
          </a:solidFill>
          <a:ln/>
        </p:spPr>
      </p:sp>
      <p:sp>
        <p:nvSpPr>
          <p:cNvPr id="23" name="Shape 17"/>
          <p:cNvSpPr/>
          <p:nvPr/>
        </p:nvSpPr>
        <p:spPr>
          <a:xfrm>
            <a:off x="9897466" y="987552"/>
            <a:ext cx="402336" cy="402336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980" y="1076066"/>
            <a:ext cx="225308" cy="2253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372954" y="877824"/>
            <a:ext cx="13898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DEPLOYMENT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" y="165506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" y="1600200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Generation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676656" y="1751076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Business Requirement Documents from conversations.</a:t>
            </a:r>
            <a:endParaRPr lang="en-US" sz="7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" y="2083003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6656" y="2028139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Story Creation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676656" y="2179015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epics and user stories from discussions and notes.</a:t>
            </a:r>
            <a:endParaRPr lang="en-US" sz="7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5534" y="1655064"/>
            <a:ext cx="237744" cy="2377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023006" y="1600200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 Generation</a:t>
            </a:r>
            <a:endParaRPr lang="en-US" sz="850" dirty="0"/>
          </a:p>
        </p:txBody>
      </p:sp>
      <p:sp>
        <p:nvSpPr>
          <p:cNvPr id="34" name="Text 24"/>
          <p:cNvSpPr/>
          <p:nvPr/>
        </p:nvSpPr>
        <p:spPr>
          <a:xfrm>
            <a:off x="3023006" y="1751076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Low Level Design documents and components.</a:t>
            </a:r>
            <a:endParaRPr lang="en-US" sz="7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5534" y="2083003"/>
            <a:ext cx="237744" cy="23774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023006" y="2028139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Creation</a:t>
            </a:r>
            <a:endParaRPr lang="en-US" sz="850" dirty="0"/>
          </a:p>
        </p:txBody>
      </p:sp>
      <p:sp>
        <p:nvSpPr>
          <p:cNvPr id="37" name="Text 26"/>
          <p:cNvSpPr/>
          <p:nvPr/>
        </p:nvSpPr>
        <p:spPr>
          <a:xfrm>
            <a:off x="3023006" y="2179015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detailed use cases and business flows.</a:t>
            </a:r>
            <a:endParaRPr lang="en-US" sz="7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5534" y="2510942"/>
            <a:ext cx="237744" cy="23774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023006" y="2456078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Validation</a:t>
            </a:r>
            <a:endParaRPr lang="en-US" sz="850" dirty="0"/>
          </a:p>
        </p:txBody>
      </p:sp>
      <p:sp>
        <p:nvSpPr>
          <p:cNvPr id="40" name="Text 28"/>
          <p:cNvSpPr/>
          <p:nvPr/>
        </p:nvSpPr>
        <p:spPr>
          <a:xfrm>
            <a:off x="3023006" y="2606954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designs for completeness, consistency and standards.</a:t>
            </a:r>
            <a:endParaRPr lang="en-US" sz="7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1885" y="1655064"/>
            <a:ext cx="237744" cy="237744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369357" y="1600200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850" dirty="0"/>
          </a:p>
        </p:txBody>
      </p:sp>
      <p:sp>
        <p:nvSpPr>
          <p:cNvPr id="43" name="Text 30"/>
          <p:cNvSpPr/>
          <p:nvPr/>
        </p:nvSpPr>
        <p:spPr>
          <a:xfrm>
            <a:off x="5369357" y="1751076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code based on requirements and context.</a:t>
            </a:r>
            <a:endParaRPr lang="en-US" sz="70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1885" y="2083003"/>
            <a:ext cx="237744" cy="237744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369357" y="2028139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</a:t>
            </a:r>
            <a:endParaRPr lang="en-US" sz="850" dirty="0"/>
          </a:p>
        </p:txBody>
      </p:sp>
      <p:sp>
        <p:nvSpPr>
          <p:cNvPr id="46" name="Text 32"/>
          <p:cNvSpPr/>
          <p:nvPr/>
        </p:nvSpPr>
        <p:spPr>
          <a:xfrm>
            <a:off x="5369357" y="2179015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unit and integration test cases.</a:t>
            </a:r>
            <a:endParaRPr lang="en-US" sz="70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1885" y="2510942"/>
            <a:ext cx="237744" cy="237744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5369357" y="2456078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49" name="Text 34"/>
          <p:cNvSpPr/>
          <p:nvPr/>
        </p:nvSpPr>
        <p:spPr>
          <a:xfrm>
            <a:off x="5369357" y="2606954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technical documentation and code comments.</a:t>
            </a:r>
            <a:endParaRPr lang="en-US" sz="700" dirty="0"/>
          </a:p>
        </p:txBody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1885" y="2938882"/>
            <a:ext cx="237744" cy="237744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5369357" y="2884018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52" name="Text 36"/>
          <p:cNvSpPr/>
          <p:nvPr/>
        </p:nvSpPr>
        <p:spPr>
          <a:xfrm>
            <a:off x="5369357" y="3034894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code for quality, security and best practices.</a:t>
            </a:r>
            <a:endParaRPr lang="en-US" sz="700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1885" y="3366821"/>
            <a:ext cx="237744" cy="237744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5369357" y="3311957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850" dirty="0"/>
          </a:p>
        </p:txBody>
      </p:sp>
      <p:sp>
        <p:nvSpPr>
          <p:cNvPr id="55" name="Text 38"/>
          <p:cNvSpPr/>
          <p:nvPr/>
        </p:nvSpPr>
        <p:spPr>
          <a:xfrm>
            <a:off x="5369357" y="3462833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code structure, readability and performance.</a:t>
            </a:r>
            <a:endParaRPr lang="en-US" sz="70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68235" y="1655064"/>
            <a:ext cx="237744" cy="237744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7715707" y="1600200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</a:t>
            </a:r>
            <a:endParaRPr lang="en-US" sz="850" dirty="0"/>
          </a:p>
        </p:txBody>
      </p:sp>
      <p:sp>
        <p:nvSpPr>
          <p:cNvPr id="58" name="Text 40"/>
          <p:cNvSpPr/>
          <p:nvPr/>
        </p:nvSpPr>
        <p:spPr>
          <a:xfrm>
            <a:off x="7715707" y="1751076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comprehensive functional and non-functional test cases.</a:t>
            </a:r>
            <a:endParaRPr lang="en-US" sz="700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68235" y="2083003"/>
            <a:ext cx="237744" cy="237744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7715707" y="2028139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Generation</a:t>
            </a:r>
            <a:endParaRPr lang="en-US" sz="850" dirty="0"/>
          </a:p>
        </p:txBody>
      </p:sp>
      <p:sp>
        <p:nvSpPr>
          <p:cNvPr id="61" name="Text 42"/>
          <p:cNvSpPr/>
          <p:nvPr/>
        </p:nvSpPr>
        <p:spPr>
          <a:xfrm>
            <a:off x="7715707" y="2179015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synthetic and masked test data.</a:t>
            </a:r>
            <a:endParaRPr lang="en-US" sz="700" dirty="0"/>
          </a:p>
        </p:txBody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68235" y="2510942"/>
            <a:ext cx="237744" cy="237744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>
            <a:off x="7715707" y="2456078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850" dirty="0"/>
          </a:p>
        </p:txBody>
      </p:sp>
      <p:sp>
        <p:nvSpPr>
          <p:cNvPr id="64" name="Text 44"/>
          <p:cNvSpPr/>
          <p:nvPr/>
        </p:nvSpPr>
        <p:spPr>
          <a:xfrm>
            <a:off x="7715707" y="2606954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defects using AI analysis and patterns.</a:t>
            </a:r>
            <a:endParaRPr lang="en-US" sz="700" dirty="0"/>
          </a:p>
        </p:txBody>
      </p:sp>
      <p:pic>
        <p:nvPicPr>
          <p:cNvPr id="6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68235" y="2938882"/>
            <a:ext cx="237744" cy="237744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7715707" y="2884018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 Automation</a:t>
            </a:r>
            <a:endParaRPr lang="en-US" sz="850" dirty="0"/>
          </a:p>
        </p:txBody>
      </p:sp>
      <p:sp>
        <p:nvSpPr>
          <p:cNvPr id="67" name="Text 46"/>
          <p:cNvSpPr/>
          <p:nvPr/>
        </p:nvSpPr>
        <p:spPr>
          <a:xfrm>
            <a:off x="7715707" y="3034894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end-to-end test automation scripts.</a:t>
            </a:r>
            <a:endParaRPr lang="en-US" sz="700" dirty="0"/>
          </a:p>
        </p:txBody>
      </p:sp>
      <p:pic>
        <p:nvPicPr>
          <p:cNvPr id="6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68235" y="3366821"/>
            <a:ext cx="237744" cy="237744"/>
          </a:xfrm>
          <a:prstGeom prst="rect">
            <a:avLst/>
          </a:prstGeom>
        </p:spPr>
      </p:pic>
      <p:sp>
        <p:nvSpPr>
          <p:cNvPr id="69" name="Text 47"/>
          <p:cNvSpPr/>
          <p:nvPr/>
        </p:nvSpPr>
        <p:spPr>
          <a:xfrm>
            <a:off x="7715707" y="3311957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850" dirty="0"/>
          </a:p>
        </p:txBody>
      </p:sp>
      <p:sp>
        <p:nvSpPr>
          <p:cNvPr id="70" name="Text 48"/>
          <p:cNvSpPr/>
          <p:nvPr/>
        </p:nvSpPr>
        <p:spPr>
          <a:xfrm>
            <a:off x="7715707" y="3462833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impact and ensures no regressions.</a:t>
            </a:r>
            <a:endParaRPr lang="en-US" sz="700" dirty="0"/>
          </a:p>
        </p:txBody>
      </p:sp>
      <p:pic>
        <p:nvPicPr>
          <p:cNvPr id="7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14586" y="1655064"/>
            <a:ext cx="237744" cy="237744"/>
          </a:xfrm>
          <a:prstGeom prst="rect">
            <a:avLst/>
          </a:prstGeom>
        </p:spPr>
      </p:pic>
      <p:sp>
        <p:nvSpPr>
          <p:cNvPr id="72" name="Text 49"/>
          <p:cNvSpPr/>
          <p:nvPr/>
        </p:nvSpPr>
        <p:spPr>
          <a:xfrm>
            <a:off x="10062058" y="1600200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Build Agent</a:t>
            </a:r>
            <a:endParaRPr lang="en-US" sz="850" dirty="0"/>
          </a:p>
        </p:txBody>
      </p:sp>
      <p:sp>
        <p:nvSpPr>
          <p:cNvPr id="73" name="Text 50"/>
          <p:cNvSpPr/>
          <p:nvPr/>
        </p:nvSpPr>
        <p:spPr>
          <a:xfrm>
            <a:off x="10062058" y="1751076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build, validation and quality checks for PRs.</a:t>
            </a:r>
            <a:endParaRPr lang="en-US" sz="700" dirty="0"/>
          </a:p>
        </p:txBody>
      </p:sp>
      <p:pic>
        <p:nvPicPr>
          <p:cNvPr id="7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14586" y="2083003"/>
            <a:ext cx="237744" cy="237744"/>
          </a:xfrm>
          <a:prstGeom prst="rect">
            <a:avLst/>
          </a:prstGeom>
        </p:spPr>
      </p:pic>
      <p:sp>
        <p:nvSpPr>
          <p:cNvPr id="75" name="Text 51"/>
          <p:cNvSpPr/>
          <p:nvPr/>
        </p:nvSpPr>
        <p:spPr>
          <a:xfrm>
            <a:off x="10062058" y="2028139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Agent</a:t>
            </a:r>
            <a:endParaRPr lang="en-US" sz="850" dirty="0"/>
          </a:p>
        </p:txBody>
      </p:sp>
      <p:sp>
        <p:nvSpPr>
          <p:cNvPr id="76" name="Text 52"/>
          <p:cNvSpPr/>
          <p:nvPr/>
        </p:nvSpPr>
        <p:spPr>
          <a:xfrm>
            <a:off x="10062058" y="2179015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application deployment across environments.</a:t>
            </a:r>
            <a:endParaRPr lang="en-US" sz="700" dirty="0"/>
          </a:p>
        </p:txBody>
      </p:sp>
      <p:pic>
        <p:nvPicPr>
          <p:cNvPr id="7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14586" y="2510942"/>
            <a:ext cx="237744" cy="237744"/>
          </a:xfrm>
          <a:prstGeom prst="rect">
            <a:avLst/>
          </a:prstGeom>
        </p:spPr>
      </p:pic>
      <p:sp>
        <p:nvSpPr>
          <p:cNvPr id="78" name="Text 53"/>
          <p:cNvSpPr/>
          <p:nvPr/>
        </p:nvSpPr>
        <p:spPr>
          <a:xfrm>
            <a:off x="10062058" y="2456078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Agent</a:t>
            </a:r>
            <a:endParaRPr lang="en-US" sz="850" dirty="0"/>
          </a:p>
        </p:txBody>
      </p:sp>
      <p:sp>
        <p:nvSpPr>
          <p:cNvPr id="79" name="Text 54"/>
          <p:cNvSpPr/>
          <p:nvPr/>
        </p:nvSpPr>
        <p:spPr>
          <a:xfrm>
            <a:off x="10062058" y="2606954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scans and manages Docker images.</a:t>
            </a:r>
            <a:endParaRPr lang="en-US" sz="700" dirty="0"/>
          </a:p>
        </p:txBody>
      </p:sp>
      <p:pic>
        <p:nvPicPr>
          <p:cNvPr id="8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14586" y="2938882"/>
            <a:ext cx="237744" cy="237744"/>
          </a:xfrm>
          <a:prstGeom prst="rect">
            <a:avLst/>
          </a:prstGeom>
        </p:spPr>
      </p:pic>
      <p:sp>
        <p:nvSpPr>
          <p:cNvPr id="81" name="Text 55"/>
          <p:cNvSpPr/>
          <p:nvPr/>
        </p:nvSpPr>
        <p:spPr>
          <a:xfrm>
            <a:off x="10062058" y="2884018"/>
            <a:ext cx="182514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Agent</a:t>
            </a:r>
            <a:endParaRPr lang="en-US" sz="850" dirty="0"/>
          </a:p>
        </p:txBody>
      </p:sp>
      <p:sp>
        <p:nvSpPr>
          <p:cNvPr id="82" name="Text 56"/>
          <p:cNvSpPr/>
          <p:nvPr/>
        </p:nvSpPr>
        <p:spPr>
          <a:xfrm>
            <a:off x="10062058" y="3034894"/>
            <a:ext cx="1825142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CI/CD workflows and pipeline automation.</a:t>
            </a:r>
            <a:endParaRPr lang="en-US" sz="700" dirty="0"/>
          </a:p>
        </p:txBody>
      </p:sp>
      <p:sp>
        <p:nvSpPr>
          <p:cNvPr id="83" name="Shape 57"/>
          <p:cNvSpPr/>
          <p:nvPr/>
        </p:nvSpPr>
        <p:spPr>
          <a:xfrm>
            <a:off x="274320" y="3840480"/>
            <a:ext cx="11612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84" name="Text 58"/>
          <p:cNvSpPr/>
          <p:nvPr/>
        </p:nvSpPr>
        <p:spPr>
          <a:xfrm>
            <a:off x="274320" y="3867912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pPr algn="ctr" indent="0" marL="0">
              <a:buNone/>
            </a:pPr>
            <a:r>
              <a:rPr lang="en-US" sz="9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(Across All Phases)</a:t>
            </a:r>
            <a:endParaRPr lang="en-US" sz="1050" dirty="0"/>
          </a:p>
        </p:txBody>
      </p:sp>
      <p:sp>
        <p:nvSpPr>
          <p:cNvPr id="85" name="Shape 59"/>
          <p:cNvSpPr/>
          <p:nvPr/>
        </p:nvSpPr>
        <p:spPr>
          <a:xfrm rot="5400000">
            <a:off x="4572000" y="4059936"/>
            <a:ext cx="237744" cy="237744"/>
          </a:xfrm>
          <a:prstGeom prst="hexagon">
            <a:avLst/>
          </a:prstGeom>
          <a:solidFill>
            <a:srgbClr val="2E5FAE"/>
          </a:solidFill>
          <a:ln/>
        </p:spPr>
      </p:sp>
      <p:sp>
        <p:nvSpPr>
          <p:cNvPr id="86" name="Shape 60"/>
          <p:cNvSpPr/>
          <p:nvPr/>
        </p:nvSpPr>
        <p:spPr>
          <a:xfrm rot="5400000">
            <a:off x="4624304" y="4112240"/>
            <a:ext cx="133137" cy="133137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87" name="Text 61"/>
          <p:cNvSpPr/>
          <p:nvPr/>
        </p:nvSpPr>
        <p:spPr>
          <a:xfrm>
            <a:off x="4864608" y="40233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</a:t>
            </a:r>
            <a:endParaRPr lang="en-US" sz="1100" dirty="0"/>
          </a:p>
        </p:txBody>
      </p:sp>
      <p:pic>
        <p:nvPicPr>
          <p:cNvPr id="8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72200" y="4050792"/>
            <a:ext cx="256032" cy="256032"/>
          </a:xfrm>
          <a:prstGeom prst="rect">
            <a:avLst/>
          </a:prstGeom>
        </p:spPr>
      </p:pic>
      <p:sp>
        <p:nvSpPr>
          <p:cNvPr id="89" name="Text 62"/>
          <p:cNvSpPr/>
          <p:nvPr/>
        </p:nvSpPr>
        <p:spPr>
          <a:xfrm>
            <a:off x="6492240" y="40233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90" name="Shape 63"/>
          <p:cNvSpPr/>
          <p:nvPr/>
        </p:nvSpPr>
        <p:spPr>
          <a:xfrm>
            <a:off x="274320" y="4370832"/>
            <a:ext cx="3246120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1" name="Shape 64"/>
          <p:cNvSpPr/>
          <p:nvPr/>
        </p:nvSpPr>
        <p:spPr>
          <a:xfrm>
            <a:off x="3611880" y="4370832"/>
            <a:ext cx="2743200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2" name="Shape 65"/>
          <p:cNvSpPr/>
          <p:nvPr/>
        </p:nvSpPr>
        <p:spPr>
          <a:xfrm>
            <a:off x="6446520" y="4370832"/>
            <a:ext cx="5440680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3" name="Shape 66"/>
          <p:cNvSpPr/>
          <p:nvPr/>
        </p:nvSpPr>
        <p:spPr>
          <a:xfrm>
            <a:off x="274320" y="4370832"/>
            <a:ext cx="3246120" cy="310896"/>
          </a:xfrm>
          <a:prstGeom prst="roundRect">
            <a:avLst>
              <a:gd name="adj" fmla="val 20588"/>
            </a:avLst>
          </a:prstGeom>
          <a:solidFill>
            <a:srgbClr val="2E5FAE"/>
          </a:solidFill>
          <a:ln/>
        </p:spPr>
      </p:sp>
      <p:sp>
        <p:nvSpPr>
          <p:cNvPr id="94" name="Shape 67"/>
          <p:cNvSpPr/>
          <p:nvPr/>
        </p:nvSpPr>
        <p:spPr>
          <a:xfrm>
            <a:off x="274320" y="4526280"/>
            <a:ext cx="3246120" cy="155448"/>
          </a:xfrm>
          <a:prstGeom prst="rect">
            <a:avLst/>
          </a:prstGeom>
          <a:solidFill>
            <a:srgbClr val="2E5FAE"/>
          </a:solidFill>
          <a:ln/>
        </p:spPr>
      </p:sp>
      <p:pic>
        <p:nvPicPr>
          <p:cNvPr id="9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0624" y="4434840"/>
            <a:ext cx="182880" cy="182880"/>
          </a:xfrm>
          <a:prstGeom prst="rect">
            <a:avLst/>
          </a:prstGeom>
        </p:spPr>
      </p:pic>
      <p:sp>
        <p:nvSpPr>
          <p:cNvPr id="96" name="Text 68"/>
          <p:cNvSpPr/>
          <p:nvPr/>
        </p:nvSpPr>
        <p:spPr>
          <a:xfrm>
            <a:off x="658368" y="4370832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100" dirty="0"/>
          </a:p>
        </p:txBody>
      </p:sp>
      <p:sp>
        <p:nvSpPr>
          <p:cNvPr id="97" name="Shape 69"/>
          <p:cNvSpPr/>
          <p:nvPr/>
        </p:nvSpPr>
        <p:spPr>
          <a:xfrm>
            <a:off x="3611880" y="4370832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2E5FAE"/>
          </a:solidFill>
          <a:ln/>
        </p:spPr>
      </p:sp>
      <p:sp>
        <p:nvSpPr>
          <p:cNvPr id="98" name="Shape 70"/>
          <p:cNvSpPr/>
          <p:nvPr/>
        </p:nvSpPr>
        <p:spPr>
          <a:xfrm>
            <a:off x="3611880" y="4526280"/>
            <a:ext cx="2743200" cy="155448"/>
          </a:xfrm>
          <a:prstGeom prst="rect">
            <a:avLst/>
          </a:prstGeom>
          <a:solidFill>
            <a:srgbClr val="2E5FAE"/>
          </a:solidFill>
          <a:ln/>
        </p:spPr>
      </p:sp>
      <p:pic>
        <p:nvPicPr>
          <p:cNvPr id="9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58184" y="4434840"/>
            <a:ext cx="182880" cy="182880"/>
          </a:xfrm>
          <a:prstGeom prst="rect">
            <a:avLst/>
          </a:prstGeom>
        </p:spPr>
      </p:pic>
      <p:sp>
        <p:nvSpPr>
          <p:cNvPr id="100" name="Text 71"/>
          <p:cNvSpPr/>
          <p:nvPr/>
        </p:nvSpPr>
        <p:spPr>
          <a:xfrm>
            <a:off x="3995928" y="43708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101" name="Shape 72"/>
          <p:cNvSpPr/>
          <p:nvPr/>
        </p:nvSpPr>
        <p:spPr>
          <a:xfrm>
            <a:off x="6446520" y="4370832"/>
            <a:ext cx="5440680" cy="310896"/>
          </a:xfrm>
          <a:prstGeom prst="roundRect">
            <a:avLst>
              <a:gd name="adj" fmla="val 20588"/>
            </a:avLst>
          </a:prstGeom>
          <a:solidFill>
            <a:srgbClr val="0B1640"/>
          </a:solidFill>
          <a:ln/>
        </p:spPr>
      </p:sp>
      <p:sp>
        <p:nvSpPr>
          <p:cNvPr id="102" name="Shape 73"/>
          <p:cNvSpPr/>
          <p:nvPr/>
        </p:nvSpPr>
        <p:spPr>
          <a:xfrm>
            <a:off x="6446520" y="4526280"/>
            <a:ext cx="5440680" cy="155448"/>
          </a:xfrm>
          <a:prstGeom prst="rect">
            <a:avLst/>
          </a:prstGeom>
          <a:solidFill>
            <a:srgbClr val="0B1640"/>
          </a:solidFill>
          <a:ln/>
        </p:spPr>
      </p:sp>
      <p:pic>
        <p:nvPicPr>
          <p:cNvPr id="10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92824" y="4434840"/>
            <a:ext cx="182880" cy="182880"/>
          </a:xfrm>
          <a:prstGeom prst="rect">
            <a:avLst/>
          </a:prstGeom>
        </p:spPr>
      </p:pic>
      <p:sp>
        <p:nvSpPr>
          <p:cNvPr id="104" name="Text 74"/>
          <p:cNvSpPr/>
          <p:nvPr/>
        </p:nvSpPr>
        <p:spPr>
          <a:xfrm>
            <a:off x="6830568" y="437083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NEXT STEPS</a:t>
            </a:r>
            <a:endParaRPr lang="en-US" sz="1100" dirty="0"/>
          </a:p>
        </p:txBody>
      </p:sp>
      <p:pic>
        <p:nvPicPr>
          <p:cNvPr id="10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20624" y="4809744"/>
            <a:ext cx="146304" cy="146304"/>
          </a:xfrm>
          <a:prstGeom prst="rect">
            <a:avLst/>
          </a:prstGeom>
        </p:spPr>
      </p:pic>
      <p:sp>
        <p:nvSpPr>
          <p:cNvPr id="106" name="Text 75"/>
          <p:cNvSpPr/>
          <p:nvPr/>
        </p:nvSpPr>
        <p:spPr>
          <a:xfrm>
            <a:off x="640080" y="4764024"/>
            <a:ext cx="2770632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end-to-end AI in SDLC demo aligned to 60-day plan (Requirements → Deployment)</a:t>
            </a:r>
            <a:endParaRPr lang="en-US" sz="690" dirty="0"/>
          </a:p>
        </p:txBody>
      </p:sp>
      <p:pic>
        <p:nvPicPr>
          <p:cNvPr id="10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20624" y="5161788"/>
            <a:ext cx="146304" cy="146304"/>
          </a:xfrm>
          <a:prstGeom prst="rect">
            <a:avLst/>
          </a:prstGeom>
        </p:spPr>
      </p:pic>
      <p:sp>
        <p:nvSpPr>
          <p:cNvPr id="108" name="Text 76"/>
          <p:cNvSpPr/>
          <p:nvPr/>
        </p:nvSpPr>
        <p:spPr>
          <a:xfrm>
            <a:off x="640080" y="5116068"/>
            <a:ext cx="2770632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Showcased Rovo &amp; GitHub Copilot agents across BRD, LLD, Dev, Test, and Deployment</a:t>
            </a:r>
            <a:endParaRPr lang="en-US" sz="690" dirty="0"/>
          </a:p>
        </p:txBody>
      </p:sp>
      <p:pic>
        <p:nvPicPr>
          <p:cNvPr id="10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0624" y="5513832"/>
            <a:ext cx="146304" cy="146304"/>
          </a:xfrm>
          <a:prstGeom prst="rect">
            <a:avLst/>
          </a:prstGeom>
        </p:spPr>
      </p:pic>
      <p:sp>
        <p:nvSpPr>
          <p:cNvPr id="110" name="Text 77"/>
          <p:cNvSpPr/>
          <p:nvPr/>
        </p:nvSpPr>
        <p:spPr>
          <a:xfrm>
            <a:off x="640080" y="5468112"/>
            <a:ext cx="2770632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BRD generation from meeting transcripts (Store Order Cycle use case)</a:t>
            </a:r>
            <a:endParaRPr lang="en-US" sz="690" dirty="0"/>
          </a:p>
        </p:txBody>
      </p:sp>
      <p:pic>
        <p:nvPicPr>
          <p:cNvPr id="111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0624" y="5865876"/>
            <a:ext cx="146304" cy="146304"/>
          </a:xfrm>
          <a:prstGeom prst="rect">
            <a:avLst/>
          </a:prstGeom>
        </p:spPr>
      </p:pic>
      <p:sp>
        <p:nvSpPr>
          <p:cNvPr id="112" name="Text 78"/>
          <p:cNvSpPr/>
          <p:nvPr/>
        </p:nvSpPr>
        <p:spPr>
          <a:xfrm>
            <a:off x="640080" y="5820156"/>
            <a:ext cx="2770632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strong engagement from Product (Roopali Revenkar &amp; PO Team) and Engineering</a:t>
            </a:r>
            <a:endParaRPr lang="en-US" sz="690" dirty="0"/>
          </a:p>
        </p:txBody>
      </p:sp>
      <p:pic>
        <p:nvPicPr>
          <p:cNvPr id="113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58184" y="4846320"/>
            <a:ext cx="146304" cy="146304"/>
          </a:xfrm>
          <a:prstGeom prst="rect">
            <a:avLst/>
          </a:prstGeom>
        </p:spPr>
      </p:pic>
      <p:sp>
        <p:nvSpPr>
          <p:cNvPr id="114" name="Text 79"/>
          <p:cNvSpPr/>
          <p:nvPr/>
        </p:nvSpPr>
        <p:spPr>
          <a:xfrm>
            <a:off x="3977640" y="4800600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practical AI adoption across SDLC lifecycle</a:t>
            </a:r>
            <a:endParaRPr lang="en-US" sz="740" dirty="0"/>
          </a:p>
        </p:txBody>
      </p:sp>
      <p:pic>
        <p:nvPicPr>
          <p:cNvPr id="11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58184" y="5285232"/>
            <a:ext cx="146304" cy="146304"/>
          </a:xfrm>
          <a:prstGeom prst="rect">
            <a:avLst/>
          </a:prstGeom>
        </p:spPr>
      </p:pic>
      <p:sp>
        <p:nvSpPr>
          <p:cNvPr id="116" name="Text 80"/>
          <p:cNvSpPr/>
          <p:nvPr/>
        </p:nvSpPr>
        <p:spPr>
          <a:xfrm>
            <a:off x="3977640" y="5239512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requirements-to-deployment cycle via automation</a:t>
            </a:r>
            <a:endParaRPr lang="en-US" sz="740" dirty="0"/>
          </a:p>
        </p:txBody>
      </p:sp>
      <p:pic>
        <p:nvPicPr>
          <p:cNvPr id="117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58184" y="5724144"/>
            <a:ext cx="146304" cy="146304"/>
          </a:xfrm>
          <a:prstGeom prst="rect">
            <a:avLst/>
          </a:prstGeom>
        </p:spPr>
      </p:pic>
      <p:sp>
        <p:nvSpPr>
          <p:cNvPr id="118" name="Text 81"/>
          <p:cNvSpPr/>
          <p:nvPr/>
        </p:nvSpPr>
        <p:spPr>
          <a:xfrm>
            <a:off x="3977640" y="5678424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confidence for scaled adoption across Supply Chain domains</a:t>
            </a:r>
            <a:endParaRPr lang="en-US" sz="740" dirty="0"/>
          </a:p>
        </p:txBody>
      </p:sp>
      <p:pic>
        <p:nvPicPr>
          <p:cNvPr id="119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74536" y="4791456"/>
            <a:ext cx="237744" cy="237744"/>
          </a:xfrm>
          <a:prstGeom prst="rect">
            <a:avLst/>
          </a:prstGeom>
        </p:spPr>
      </p:pic>
      <p:sp>
        <p:nvSpPr>
          <p:cNvPr id="120" name="Text 82"/>
          <p:cNvSpPr/>
          <p:nvPr/>
        </p:nvSpPr>
        <p:spPr>
          <a:xfrm>
            <a:off x="6867144" y="4754880"/>
            <a:ext cx="14904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</a:t>
            </a:r>
            <a:endParaRPr lang="en-US" sz="9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(Roopali Revenkar &amp; PO Team)</a:t>
            </a:r>
            <a:endParaRPr lang="en-US" sz="900" dirty="0"/>
          </a:p>
        </p:txBody>
      </p:sp>
      <p:sp>
        <p:nvSpPr>
          <p:cNvPr id="121" name="Text 83"/>
          <p:cNvSpPr/>
          <p:nvPr/>
        </p:nvSpPr>
        <p:spPr>
          <a:xfrm>
            <a:off x="6611112" y="5120640"/>
            <a:ext cx="172821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use cases: BRD from process maps, legacy docs, emails, chats, Confluence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Elizabeth Rout &amp; Chinmayee N to run agent design sessions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BRD templates &amp; input/output standardisation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process maps in Miro</a:t>
            </a:r>
            <a:endParaRPr lang="en-US" sz="680" dirty="0"/>
          </a:p>
        </p:txBody>
      </p:sp>
      <p:pic>
        <p:nvPicPr>
          <p:cNvPr id="12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385048" y="4791456"/>
            <a:ext cx="237744" cy="237744"/>
          </a:xfrm>
          <a:prstGeom prst="rect">
            <a:avLst/>
          </a:prstGeom>
        </p:spPr>
      </p:pic>
      <p:sp>
        <p:nvSpPr>
          <p:cNvPr id="123" name="Text 84"/>
          <p:cNvSpPr/>
          <p:nvPr/>
        </p:nvSpPr>
        <p:spPr>
          <a:xfrm>
            <a:off x="8677656" y="475488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Leadership</a:t>
            </a:r>
            <a:endParaRPr lang="en-US" sz="9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(Chris Armstrong)</a:t>
            </a:r>
            <a:endParaRPr lang="en-US" sz="900" dirty="0"/>
          </a:p>
        </p:txBody>
      </p:sp>
      <p:sp>
        <p:nvSpPr>
          <p:cNvPr id="124" name="Text 85"/>
          <p:cNvSpPr/>
          <p:nvPr/>
        </p:nvSpPr>
        <p:spPr>
          <a:xfrm>
            <a:off x="8421624" y="5120640"/>
            <a:ext cx="168249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phase-wise deep dive sessions (Req → Deploy)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TCS AI Team (external to MDM) to deliver end-to-end demos</a:t>
            </a:r>
            <a:endParaRPr lang="en-US" sz="680" dirty="0"/>
          </a:p>
        </p:txBody>
      </p:sp>
      <p:pic>
        <p:nvPicPr>
          <p:cNvPr id="125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149840" y="4791456"/>
            <a:ext cx="237744" cy="237744"/>
          </a:xfrm>
          <a:prstGeom prst="rect">
            <a:avLst/>
          </a:prstGeom>
        </p:spPr>
      </p:pic>
      <p:sp>
        <p:nvSpPr>
          <p:cNvPr id="126" name="Text 86"/>
          <p:cNvSpPr/>
          <p:nvPr/>
        </p:nvSpPr>
        <p:spPr>
          <a:xfrm>
            <a:off x="10442448" y="4754880"/>
            <a:ext cx="139903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Enablement</a:t>
            </a:r>
            <a:endParaRPr lang="en-US" sz="9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E8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 &amp; HOEs)</a:t>
            </a:r>
            <a:endParaRPr lang="en-US" sz="900" dirty="0"/>
          </a:p>
        </p:txBody>
      </p:sp>
      <p:sp>
        <p:nvSpPr>
          <p:cNvPr id="127" name="Text 87"/>
          <p:cNvSpPr/>
          <p:nvPr/>
        </p:nvSpPr>
        <p:spPr>
          <a:xfrm>
            <a:off x="10186416" y="5120640"/>
            <a:ext cx="163677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demo sessions to build adoption confidence</a:t>
            </a:r>
            <a:endParaRPr lang="en-US" sz="680" dirty="0"/>
          </a:p>
          <a:p>
            <a:pPr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68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training, guidelines, code quality, security checks &amp; productivity metrics</a:t>
            </a:r>
            <a:endParaRPr lang="en-US" sz="680" dirty="0"/>
          </a:p>
        </p:txBody>
      </p:sp>
      <p:sp>
        <p:nvSpPr>
          <p:cNvPr id="128" name="Shape 88"/>
          <p:cNvSpPr/>
          <p:nvPr/>
        </p:nvSpPr>
        <p:spPr>
          <a:xfrm>
            <a:off x="274320" y="6236208"/>
            <a:ext cx="11612880" cy="457200"/>
          </a:xfrm>
          <a:prstGeom prst="roundRect">
            <a:avLst>
              <a:gd name="adj" fmla="val 16000"/>
            </a:avLst>
          </a:prstGeom>
          <a:solidFill>
            <a:srgbClr val="FBF2D4"/>
          </a:solidFill>
          <a:ln w="12700">
            <a:solidFill>
              <a:srgbClr val="EAD79A"/>
            </a:solidFill>
            <a:prstDash val="solid"/>
          </a:ln>
        </p:spPr>
      </p:sp>
      <p:sp>
        <p:nvSpPr>
          <p:cNvPr id="129" name="Shape 89"/>
          <p:cNvSpPr/>
          <p:nvPr/>
        </p:nvSpPr>
        <p:spPr>
          <a:xfrm>
            <a:off x="420624" y="6318504"/>
            <a:ext cx="292608" cy="292608"/>
          </a:xfrm>
          <a:prstGeom prst="ellipse">
            <a:avLst/>
          </a:prstGeom>
          <a:solidFill>
            <a:srgbClr val="E8A317"/>
          </a:solidFill>
          <a:ln/>
        </p:spPr>
      </p:sp>
      <p:pic>
        <p:nvPicPr>
          <p:cNvPr id="13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86461" y="6384341"/>
            <a:ext cx="160934" cy="160934"/>
          </a:xfrm>
          <a:prstGeom prst="rect">
            <a:avLst/>
          </a:prstGeom>
        </p:spPr>
      </p:pic>
      <p:sp>
        <p:nvSpPr>
          <p:cNvPr id="131" name="Text 90"/>
          <p:cNvSpPr/>
          <p:nvPr/>
        </p:nvSpPr>
        <p:spPr>
          <a:xfrm>
            <a:off x="822960" y="62362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ASK</a:t>
            </a:r>
            <a:endParaRPr lang="en-US" sz="1200" dirty="0"/>
          </a:p>
        </p:txBody>
      </p:sp>
      <p:sp>
        <p:nvSpPr>
          <p:cNvPr id="132" name="Shape 91"/>
          <p:cNvSpPr/>
          <p:nvPr/>
        </p:nvSpPr>
        <p:spPr>
          <a:xfrm>
            <a:off x="2395728" y="6327648"/>
            <a:ext cx="0" cy="274320"/>
          </a:xfrm>
          <a:prstGeom prst="line">
            <a:avLst/>
          </a:prstGeom>
          <a:noFill/>
          <a:ln w="12700">
            <a:solidFill>
              <a:srgbClr val="D9C07A"/>
            </a:solidFill>
            <a:prstDash val="solid"/>
          </a:ln>
        </p:spPr>
      </p:sp>
      <p:sp>
        <p:nvSpPr>
          <p:cNvPr id="133" name="Text 92"/>
          <p:cNvSpPr/>
          <p:nvPr/>
        </p:nvSpPr>
        <p:spPr>
          <a:xfrm>
            <a:off x="2560320" y="62362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Rout / Chinmayee N to align with Roopali Revenkar &amp; Chris Armstrong on availability and scheduling of next workshops &amp; adoption roadmap.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10896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8869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MDM – AI in SDLC  |  Workshop Update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51560" y="841248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AI-powered transformation across the SDLC for faster delivery and greater impact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0561320" y="237744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10881360" y="55778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0561320" y="237744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274320" y="1243584"/>
            <a:ext cx="6903720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60920" y="1243584"/>
            <a:ext cx="4526280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1243584"/>
            <a:ext cx="6903720" cy="457200"/>
          </a:xfrm>
          <a:prstGeom prst="roundRect">
            <a:avLst>
              <a:gd name="adj" fmla="val 14000"/>
            </a:avLst>
          </a:prstGeom>
          <a:solidFill>
            <a:srgbClr val="0F1E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4416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" y="1243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0512"/>
            <a:ext cx="210312" cy="210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" y="17465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end-to-end AI in SDLC demo aligned to plan (Requirements → Deployment)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286000"/>
            <a:ext cx="210312" cy="2103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22219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Showcased Rovo &amp; GitHub Copilot agents across BRD, LLD, Dev, Test, and Deployment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2761488"/>
            <a:ext cx="210312" cy="21031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944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BRD generation from meeting transcripts (Store Order Cycle use case)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3236976"/>
            <a:ext cx="210312" cy="21031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4944" y="31729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strong engagement from Product (Roopali Revenkar &amp; PO Team) and Engineering</a:t>
            </a:r>
            <a:endParaRPr lang="en-US" sz="900" dirty="0"/>
          </a:p>
        </p:txBody>
      </p:sp>
      <p:sp>
        <p:nvSpPr>
          <p:cNvPr id="21" name="Shape 12"/>
          <p:cNvSpPr/>
          <p:nvPr/>
        </p:nvSpPr>
        <p:spPr>
          <a:xfrm>
            <a:off x="3730752" y="1773936"/>
            <a:ext cx="3291840" cy="210312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3730752" y="182880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in SDLC Demo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3895344" y="2157984"/>
            <a:ext cx="365760" cy="36576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5811" y="2238451"/>
            <a:ext cx="204826" cy="20482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21608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620" dirty="0"/>
          </a:p>
        </p:txBody>
      </p:sp>
      <p:sp>
        <p:nvSpPr>
          <p:cNvPr id="26" name="Shape 16"/>
          <p:cNvSpPr/>
          <p:nvPr/>
        </p:nvSpPr>
        <p:spPr>
          <a:xfrm>
            <a:off x="4320540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27" name="Shape 17"/>
          <p:cNvSpPr/>
          <p:nvPr/>
        </p:nvSpPr>
        <p:spPr>
          <a:xfrm>
            <a:off x="4544568" y="2157984"/>
            <a:ext cx="365760" cy="365760"/>
          </a:xfrm>
          <a:prstGeom prst="ellipse">
            <a:avLst/>
          </a:prstGeom>
          <a:solidFill>
            <a:srgbClr val="E2F1F2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5035" y="2238451"/>
            <a:ext cx="204826" cy="20482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370832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620" dirty="0"/>
          </a:p>
        </p:txBody>
      </p:sp>
      <p:sp>
        <p:nvSpPr>
          <p:cNvPr id="30" name="Shape 19"/>
          <p:cNvSpPr/>
          <p:nvPr/>
        </p:nvSpPr>
        <p:spPr>
          <a:xfrm>
            <a:off x="4969764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31" name="Shape 20"/>
          <p:cNvSpPr/>
          <p:nvPr/>
        </p:nvSpPr>
        <p:spPr>
          <a:xfrm>
            <a:off x="5193792" y="2157984"/>
            <a:ext cx="365760" cy="36576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4259" y="2238451"/>
            <a:ext cx="204826" cy="20482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020056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620" dirty="0"/>
          </a:p>
        </p:txBody>
      </p:sp>
      <p:sp>
        <p:nvSpPr>
          <p:cNvPr id="34" name="Shape 22"/>
          <p:cNvSpPr/>
          <p:nvPr/>
        </p:nvSpPr>
        <p:spPr>
          <a:xfrm>
            <a:off x="5618988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35" name="Shape 23"/>
          <p:cNvSpPr/>
          <p:nvPr/>
        </p:nvSpPr>
        <p:spPr>
          <a:xfrm>
            <a:off x="5843016" y="2157984"/>
            <a:ext cx="365760" cy="365760"/>
          </a:xfrm>
          <a:prstGeom prst="ellipse">
            <a:avLst/>
          </a:prstGeom>
          <a:solidFill>
            <a:srgbClr val="EEEAF7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3483" y="2238451"/>
            <a:ext cx="204826" cy="204826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669280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620" dirty="0"/>
          </a:p>
        </p:txBody>
      </p:sp>
      <p:sp>
        <p:nvSpPr>
          <p:cNvPr id="38" name="Shape 25"/>
          <p:cNvSpPr/>
          <p:nvPr/>
        </p:nvSpPr>
        <p:spPr>
          <a:xfrm>
            <a:off x="6268212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39" name="Shape 26"/>
          <p:cNvSpPr/>
          <p:nvPr/>
        </p:nvSpPr>
        <p:spPr>
          <a:xfrm>
            <a:off x="6492240" y="2157984"/>
            <a:ext cx="365760" cy="365760"/>
          </a:xfrm>
          <a:prstGeom prst="ellipse">
            <a:avLst/>
          </a:prstGeom>
          <a:solidFill>
            <a:srgbClr val="E5F4E7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707" y="2238451"/>
            <a:ext cx="204826" cy="204826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318504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620" dirty="0"/>
          </a:p>
        </p:txBody>
      </p:sp>
      <p:sp>
        <p:nvSpPr>
          <p:cNvPr id="42" name="Shape 28"/>
          <p:cNvSpPr/>
          <p:nvPr/>
        </p:nvSpPr>
        <p:spPr>
          <a:xfrm>
            <a:off x="3913632" y="2926080"/>
            <a:ext cx="292608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43" name="Text 29"/>
          <p:cNvSpPr/>
          <p:nvPr/>
        </p:nvSpPr>
        <p:spPr>
          <a:xfrm>
            <a:off x="3730752" y="29626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Action</a:t>
            </a:r>
            <a:endParaRPr lang="en-US" sz="950" dirty="0"/>
          </a:p>
        </p:txBody>
      </p:sp>
      <p:sp>
        <p:nvSpPr>
          <p:cNvPr id="44" name="Shape 30"/>
          <p:cNvSpPr/>
          <p:nvPr/>
        </p:nvSpPr>
        <p:spPr>
          <a:xfrm rot="5400000">
            <a:off x="4114800" y="3218688"/>
            <a:ext cx="274320" cy="274320"/>
          </a:xfrm>
          <a:prstGeom prst="hexagon">
            <a:avLst/>
          </a:prstGeom>
          <a:solidFill>
            <a:srgbClr val="2E5FAE"/>
          </a:solidFill>
          <a:ln/>
        </p:spPr>
      </p:sp>
      <p:sp>
        <p:nvSpPr>
          <p:cNvPr id="45" name="Shape 31"/>
          <p:cNvSpPr/>
          <p:nvPr/>
        </p:nvSpPr>
        <p:spPr>
          <a:xfrm rot="5400000">
            <a:off x="4175150" y="3279038"/>
            <a:ext cx="153619" cy="153619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46" name="Text 32"/>
          <p:cNvSpPr/>
          <p:nvPr/>
        </p:nvSpPr>
        <p:spPr>
          <a:xfrm>
            <a:off x="4443984" y="3218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</a:t>
            </a:r>
            <a:endParaRPr lang="en-US" sz="1000" dirty="0"/>
          </a:p>
        </p:txBody>
      </p:sp>
      <p:sp>
        <p:nvSpPr>
          <p:cNvPr id="47" name="Text 33"/>
          <p:cNvSpPr/>
          <p:nvPr/>
        </p:nvSpPr>
        <p:spPr>
          <a:xfrm>
            <a:off x="3877056" y="35112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Knowledge Agent</a:t>
            </a:r>
            <a:endParaRPr lang="en-US" sz="65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0" y="3209544"/>
            <a:ext cx="292608" cy="292608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833872" y="3218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50" name="Text 35"/>
          <p:cNvSpPr/>
          <p:nvPr/>
        </p:nvSpPr>
        <p:spPr>
          <a:xfrm>
            <a:off x="5413248" y="3511296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Programmer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Automation Agent</a:t>
            </a:r>
            <a:endParaRPr lang="en-US" sz="650" dirty="0"/>
          </a:p>
        </p:txBody>
      </p:sp>
      <p:sp>
        <p:nvSpPr>
          <p:cNvPr id="51" name="Shape 36"/>
          <p:cNvSpPr/>
          <p:nvPr/>
        </p:nvSpPr>
        <p:spPr>
          <a:xfrm>
            <a:off x="7360920" y="1243584"/>
            <a:ext cx="4526280" cy="457200"/>
          </a:xfrm>
          <a:prstGeom prst="roundRect">
            <a:avLst>
              <a:gd name="adj" fmla="val 14000"/>
            </a:avLst>
          </a:prstGeom>
          <a:solidFill>
            <a:srgbClr val="0F1E5B"/>
          </a:solidFill>
          <a:ln/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2088" y="1353312"/>
            <a:ext cx="246888" cy="24688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7927848" y="1243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500" dirty="0"/>
          </a:p>
        </p:txBody>
      </p:sp>
      <p:sp>
        <p:nvSpPr>
          <p:cNvPr id="54" name="Shape 38"/>
          <p:cNvSpPr/>
          <p:nvPr/>
        </p:nvSpPr>
        <p:spPr>
          <a:xfrm>
            <a:off x="7507224" y="1810512"/>
            <a:ext cx="274320" cy="274320"/>
          </a:xfrm>
          <a:prstGeom prst="ellipse">
            <a:avLst/>
          </a:prstGeom>
          <a:solidFill>
            <a:srgbClr val="E2F1F2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67574" y="1870862"/>
            <a:ext cx="153619" cy="153619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7872984" y="17373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practical AI adoption across SDLC lifecycle</a:t>
            </a:r>
            <a:endParaRPr lang="en-US" sz="860" dirty="0"/>
          </a:p>
        </p:txBody>
      </p:sp>
      <p:sp>
        <p:nvSpPr>
          <p:cNvPr id="57" name="Text 40"/>
          <p:cNvSpPr/>
          <p:nvPr/>
        </p:nvSpPr>
        <p:spPr>
          <a:xfrm>
            <a:off x="7872984" y="192024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real-world value and feasibility.</a:t>
            </a:r>
            <a:endParaRPr lang="en-US" sz="740" dirty="0"/>
          </a:p>
        </p:txBody>
      </p:sp>
      <p:sp>
        <p:nvSpPr>
          <p:cNvPr id="58" name="Shape 41"/>
          <p:cNvSpPr/>
          <p:nvPr/>
        </p:nvSpPr>
        <p:spPr>
          <a:xfrm>
            <a:off x="7525512" y="2139696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59" name="Shape 42"/>
          <p:cNvSpPr/>
          <p:nvPr/>
        </p:nvSpPr>
        <p:spPr>
          <a:xfrm>
            <a:off x="7507224" y="2194560"/>
            <a:ext cx="274320" cy="274320"/>
          </a:xfrm>
          <a:prstGeom prst="ellipse">
            <a:avLst/>
          </a:prstGeom>
          <a:solidFill>
            <a:srgbClr val="E5F4E7"/>
          </a:solidFill>
          <a:ln/>
        </p:spPr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67574" y="2254910"/>
            <a:ext cx="153619" cy="153619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7872984" y="212140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requirements-to-deployment cycle via automation</a:t>
            </a:r>
            <a:endParaRPr lang="en-US" sz="860" dirty="0"/>
          </a:p>
        </p:txBody>
      </p:sp>
      <p:sp>
        <p:nvSpPr>
          <p:cNvPr id="62" name="Text 44"/>
          <p:cNvSpPr/>
          <p:nvPr/>
        </p:nvSpPr>
        <p:spPr>
          <a:xfrm>
            <a:off x="7872984" y="23042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cycle time.</a:t>
            </a:r>
            <a:endParaRPr lang="en-US" sz="740" dirty="0"/>
          </a:p>
        </p:txBody>
      </p:sp>
      <p:sp>
        <p:nvSpPr>
          <p:cNvPr id="63" name="Shape 45"/>
          <p:cNvSpPr/>
          <p:nvPr/>
        </p:nvSpPr>
        <p:spPr>
          <a:xfrm>
            <a:off x="7525512" y="2523744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64" name="Shape 46"/>
          <p:cNvSpPr/>
          <p:nvPr/>
        </p:nvSpPr>
        <p:spPr>
          <a:xfrm>
            <a:off x="7507224" y="2578608"/>
            <a:ext cx="274320" cy="274320"/>
          </a:xfrm>
          <a:prstGeom prst="ellipse">
            <a:avLst/>
          </a:prstGeom>
          <a:solidFill>
            <a:srgbClr val="EEEAF7"/>
          </a:solidFill>
          <a:ln/>
        </p:spPr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67574" y="2638958"/>
            <a:ext cx="153619" cy="153619"/>
          </a:xfrm>
          <a:prstGeom prst="rect">
            <a:avLst/>
          </a:prstGeom>
        </p:spPr>
      </p:pic>
      <p:sp>
        <p:nvSpPr>
          <p:cNvPr id="66" name="Text 47"/>
          <p:cNvSpPr/>
          <p:nvPr/>
        </p:nvSpPr>
        <p:spPr>
          <a:xfrm>
            <a:off x="7872984" y="25054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confidence for scaled adoption across Supply Chain domains</a:t>
            </a:r>
            <a:endParaRPr lang="en-US" sz="860" dirty="0"/>
          </a:p>
        </p:txBody>
      </p:sp>
      <p:sp>
        <p:nvSpPr>
          <p:cNvPr id="67" name="Text 48"/>
          <p:cNvSpPr/>
          <p:nvPr/>
        </p:nvSpPr>
        <p:spPr>
          <a:xfrm>
            <a:off x="7872984" y="268833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teams to adopt AI with trust and at scale.</a:t>
            </a:r>
            <a:endParaRPr lang="en-US" sz="740" dirty="0"/>
          </a:p>
        </p:txBody>
      </p:sp>
      <p:sp>
        <p:nvSpPr>
          <p:cNvPr id="68" name="Shape 49"/>
          <p:cNvSpPr/>
          <p:nvPr/>
        </p:nvSpPr>
        <p:spPr>
          <a:xfrm>
            <a:off x="7525512" y="2907792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69" name="Shape 50"/>
          <p:cNvSpPr/>
          <p:nvPr/>
        </p:nvSpPr>
        <p:spPr>
          <a:xfrm>
            <a:off x="7507224" y="2962656"/>
            <a:ext cx="274320" cy="27432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67574" y="3023006"/>
            <a:ext cx="153619" cy="153619"/>
          </a:xfrm>
          <a:prstGeom prst="rect">
            <a:avLst/>
          </a:prstGeom>
        </p:spPr>
      </p:pic>
      <p:sp>
        <p:nvSpPr>
          <p:cNvPr id="71" name="Text 51"/>
          <p:cNvSpPr/>
          <p:nvPr/>
        </p:nvSpPr>
        <p:spPr>
          <a:xfrm>
            <a:off x="7872984" y="28895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(30%)</a:t>
            </a:r>
            <a:endParaRPr lang="en-US" sz="860" dirty="0"/>
          </a:p>
        </p:txBody>
      </p:sp>
      <p:sp>
        <p:nvSpPr>
          <p:cNvPr id="72" name="Text 52"/>
          <p:cNvSpPr/>
          <p:nvPr/>
        </p:nvSpPr>
        <p:spPr>
          <a:xfrm>
            <a:off x="7872984" y="307238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automation reduces cycle time by up to 30%.</a:t>
            </a:r>
            <a:endParaRPr lang="en-US" sz="740" dirty="0"/>
          </a:p>
        </p:txBody>
      </p:sp>
      <p:sp>
        <p:nvSpPr>
          <p:cNvPr id="73" name="Shape 53"/>
          <p:cNvSpPr/>
          <p:nvPr/>
        </p:nvSpPr>
        <p:spPr>
          <a:xfrm>
            <a:off x="7525512" y="3291840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74" name="Shape 54"/>
          <p:cNvSpPr/>
          <p:nvPr/>
        </p:nvSpPr>
        <p:spPr>
          <a:xfrm>
            <a:off x="7507224" y="3346704"/>
            <a:ext cx="274320" cy="274320"/>
          </a:xfrm>
          <a:prstGeom prst="ellipse">
            <a:avLst/>
          </a:prstGeom>
          <a:solidFill>
            <a:srgbClr val="FCE9E1"/>
          </a:solidFill>
          <a:ln/>
        </p:spPr>
      </p:sp>
      <p:pic>
        <p:nvPicPr>
          <p:cNvPr id="75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67574" y="3407054"/>
            <a:ext cx="153619" cy="153619"/>
          </a:xfrm>
          <a:prstGeom prst="rect">
            <a:avLst/>
          </a:prstGeom>
        </p:spPr>
      </p:pic>
      <p:sp>
        <p:nvSpPr>
          <p:cNvPr id="76" name="Text 55"/>
          <p:cNvSpPr/>
          <p:nvPr/>
        </p:nvSpPr>
        <p:spPr>
          <a:xfrm>
            <a:off x="7872984" y="32735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and Standardization</a:t>
            </a:r>
            <a:endParaRPr lang="en-US" sz="860" dirty="0"/>
          </a:p>
        </p:txBody>
      </p:sp>
      <p:sp>
        <p:nvSpPr>
          <p:cNvPr id="77" name="Text 56"/>
          <p:cNvSpPr/>
          <p:nvPr/>
        </p:nvSpPr>
        <p:spPr>
          <a:xfrm>
            <a:off x="7872984" y="345643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uniform outputs through standard templates and governed processes.</a:t>
            </a:r>
            <a:endParaRPr lang="en-US" sz="740" dirty="0"/>
          </a:p>
        </p:txBody>
      </p:sp>
      <p:sp>
        <p:nvSpPr>
          <p:cNvPr id="78" name="Shape 57"/>
          <p:cNvSpPr/>
          <p:nvPr/>
        </p:nvSpPr>
        <p:spPr>
          <a:xfrm>
            <a:off x="274320" y="4142232"/>
            <a:ext cx="1161288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solid"/>
          </a:ln>
        </p:spPr>
      </p:sp>
      <p:sp>
        <p:nvSpPr>
          <p:cNvPr id="79" name="Shape 58"/>
          <p:cNvSpPr/>
          <p:nvPr/>
        </p:nvSpPr>
        <p:spPr>
          <a:xfrm>
            <a:off x="4069080" y="3950208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0F1E5B"/>
          </a:solidFill>
          <a:ln/>
        </p:spPr>
      </p:sp>
      <p:sp>
        <p:nvSpPr>
          <p:cNvPr id="80" name="Text 59"/>
          <p:cNvSpPr/>
          <p:nvPr/>
        </p:nvSpPr>
        <p:spPr>
          <a:xfrm>
            <a:off x="4069080" y="39502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Next Steps</a:t>
            </a:r>
            <a:endParaRPr lang="en-US" sz="1400" dirty="0"/>
          </a:p>
        </p:txBody>
      </p:sp>
      <p:sp>
        <p:nvSpPr>
          <p:cNvPr id="81" name="Shape 60"/>
          <p:cNvSpPr/>
          <p:nvPr/>
        </p:nvSpPr>
        <p:spPr>
          <a:xfrm>
            <a:off x="274320" y="449884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0F8F2"/>
          </a:solidFill>
          <a:ln w="12700">
            <a:solidFill>
              <a:srgbClr val="BFE3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82" name="Shape 61"/>
          <p:cNvSpPr/>
          <p:nvPr/>
        </p:nvSpPr>
        <p:spPr>
          <a:xfrm>
            <a:off x="420624" y="4626864"/>
            <a:ext cx="384048" cy="384048"/>
          </a:xfrm>
          <a:prstGeom prst="ellipse">
            <a:avLst/>
          </a:prstGeom>
          <a:solidFill>
            <a:srgbClr val="2E9E4B"/>
          </a:solidFill>
          <a:ln/>
        </p:spPr>
      </p:sp>
      <p:pic>
        <p:nvPicPr>
          <p:cNvPr id="83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7035" y="4713275"/>
            <a:ext cx="211226" cy="211226"/>
          </a:xfrm>
          <a:prstGeom prst="rect">
            <a:avLst/>
          </a:prstGeom>
        </p:spPr>
      </p:pic>
      <p:sp>
        <p:nvSpPr>
          <p:cNvPr id="84" name="Text 62"/>
          <p:cNvSpPr/>
          <p:nvPr/>
        </p:nvSpPr>
        <p:spPr>
          <a:xfrm>
            <a:off x="877824" y="4608576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Team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(Roopali Revenkar &amp; PO Team)</a:t>
            </a:r>
            <a:endParaRPr lang="en-US" sz="1150" dirty="0"/>
          </a:p>
        </p:txBody>
      </p:sp>
      <p:sp>
        <p:nvSpPr>
          <p:cNvPr id="85" name="Text 63"/>
          <p:cNvSpPr/>
          <p:nvPr/>
        </p:nvSpPr>
        <p:spPr>
          <a:xfrm>
            <a:off x="438912" y="5102352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use cases: BRD from process maps, legacy docs, emails, chats, Confluence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Elizabeth Rout &amp; Chinmayee N to run agent design sessions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BRD templates &amp; input/output standardisation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process maps in Miro</a:t>
            </a:r>
            <a:endParaRPr lang="en-US" sz="840" dirty="0"/>
          </a:p>
        </p:txBody>
      </p:sp>
      <p:pic>
        <p:nvPicPr>
          <p:cNvPr id="86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10712" y="5687568"/>
            <a:ext cx="384048" cy="310896"/>
          </a:xfrm>
          <a:prstGeom prst="rect">
            <a:avLst/>
          </a:prstGeom>
        </p:spPr>
      </p:pic>
      <p:sp>
        <p:nvSpPr>
          <p:cNvPr id="87" name="Shape 64"/>
          <p:cNvSpPr/>
          <p:nvPr/>
        </p:nvSpPr>
        <p:spPr>
          <a:xfrm>
            <a:off x="4160520" y="449884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EEF4FC"/>
          </a:solidFill>
          <a:ln w="12700">
            <a:solidFill>
              <a:srgbClr val="C2D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88" name="Shape 65"/>
          <p:cNvSpPr/>
          <p:nvPr/>
        </p:nvSpPr>
        <p:spPr>
          <a:xfrm>
            <a:off x="4306824" y="4626864"/>
            <a:ext cx="384048" cy="384048"/>
          </a:xfrm>
          <a:prstGeom prst="ellipse">
            <a:avLst/>
          </a:prstGeom>
          <a:solidFill>
            <a:srgbClr val="2E5FAE"/>
          </a:solidFill>
          <a:ln/>
        </p:spPr>
      </p:sp>
      <p:pic>
        <p:nvPicPr>
          <p:cNvPr id="89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93235" y="4713275"/>
            <a:ext cx="211226" cy="211226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4764024" y="4608576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Engineering Leadership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(Chris Armstrong)</a:t>
            </a:r>
            <a:endParaRPr lang="en-US" sz="1150" dirty="0"/>
          </a:p>
        </p:txBody>
      </p:sp>
      <p:sp>
        <p:nvSpPr>
          <p:cNvPr id="91" name="Text 67"/>
          <p:cNvSpPr/>
          <p:nvPr/>
        </p:nvSpPr>
        <p:spPr>
          <a:xfrm>
            <a:off x="4325112" y="5102352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phase-wise deep dive sessions (Req → Deploy)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TCS AI Team (external to MDM) to deliver end-to-end demos</a:t>
            </a:r>
            <a:endParaRPr lang="en-US" sz="840" dirty="0"/>
          </a:p>
        </p:txBody>
      </p:sp>
      <p:sp>
        <p:nvSpPr>
          <p:cNvPr id="92" name="Shape 68"/>
          <p:cNvSpPr/>
          <p:nvPr/>
        </p:nvSpPr>
        <p:spPr>
          <a:xfrm>
            <a:off x="8046720" y="4498848"/>
            <a:ext cx="3840480" cy="1572768"/>
          </a:xfrm>
          <a:prstGeom prst="roundRect">
            <a:avLst>
              <a:gd name="adj" fmla="val 4070"/>
            </a:avLst>
          </a:prstGeom>
          <a:solidFill>
            <a:srgbClr val="F2EFFA"/>
          </a:solidFill>
          <a:ln w="12700">
            <a:solidFill>
              <a:srgbClr val="D5CC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3" name="Shape 69"/>
          <p:cNvSpPr/>
          <p:nvPr/>
        </p:nvSpPr>
        <p:spPr>
          <a:xfrm>
            <a:off x="8193024" y="4626864"/>
            <a:ext cx="384048" cy="384048"/>
          </a:xfrm>
          <a:prstGeom prst="ellipse">
            <a:avLst/>
          </a:prstGeom>
          <a:solidFill>
            <a:srgbClr val="44309A"/>
          </a:solidFill>
          <a:ln/>
        </p:spPr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79435" y="4713275"/>
            <a:ext cx="211226" cy="211226"/>
          </a:xfrm>
          <a:prstGeom prst="rect">
            <a:avLst/>
          </a:prstGeom>
        </p:spPr>
      </p:pic>
      <p:sp>
        <p:nvSpPr>
          <p:cNvPr id="95" name="Text 70"/>
          <p:cNvSpPr/>
          <p:nvPr/>
        </p:nvSpPr>
        <p:spPr>
          <a:xfrm>
            <a:off x="8650224" y="4608576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Leadership Enablement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 &amp; HOEs)</a:t>
            </a:r>
            <a:endParaRPr lang="en-US" sz="1150" dirty="0"/>
          </a:p>
        </p:txBody>
      </p:sp>
      <p:sp>
        <p:nvSpPr>
          <p:cNvPr id="96" name="Text 71"/>
          <p:cNvSpPr/>
          <p:nvPr/>
        </p:nvSpPr>
        <p:spPr>
          <a:xfrm>
            <a:off x="8211312" y="5102352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demo sessions to build adoption confidence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training, guidelines, code quality, security checks &amp; productivity metrics</a:t>
            </a:r>
            <a:endParaRPr lang="en-US" sz="84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04704" y="5687568"/>
            <a:ext cx="274320" cy="274320"/>
          </a:xfrm>
          <a:prstGeom prst="rect">
            <a:avLst/>
          </a:prstGeom>
        </p:spPr>
      </p:pic>
      <p:pic>
        <p:nvPicPr>
          <p:cNvPr id="98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25328" y="5687568"/>
            <a:ext cx="274320" cy="274320"/>
          </a:xfrm>
          <a:prstGeom prst="rect">
            <a:avLst/>
          </a:prstGeom>
        </p:spPr>
      </p:pic>
      <p:pic>
        <p:nvPicPr>
          <p:cNvPr id="99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45952" y="5687568"/>
            <a:ext cx="274320" cy="274320"/>
          </a:xfrm>
          <a:prstGeom prst="rect">
            <a:avLst/>
          </a:prstGeom>
        </p:spPr>
      </p:pic>
      <p:pic>
        <p:nvPicPr>
          <p:cNvPr id="100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66576" y="5687568"/>
            <a:ext cx="274320" cy="274320"/>
          </a:xfrm>
          <a:prstGeom prst="rect">
            <a:avLst/>
          </a:prstGeom>
        </p:spPr>
      </p:pic>
      <p:sp>
        <p:nvSpPr>
          <p:cNvPr id="101" name="Shape 72"/>
          <p:cNvSpPr/>
          <p:nvPr/>
        </p:nvSpPr>
        <p:spPr>
          <a:xfrm>
            <a:off x="274320" y="6199632"/>
            <a:ext cx="11612880" cy="457200"/>
          </a:xfrm>
          <a:prstGeom prst="roundRect">
            <a:avLst>
              <a:gd name="adj" fmla="val 16000"/>
            </a:avLst>
          </a:prstGeom>
          <a:solidFill>
            <a:srgbClr val="FBF2D4"/>
          </a:solidFill>
          <a:ln w="12700">
            <a:solidFill>
              <a:srgbClr val="EAD79A"/>
            </a:solidFill>
            <a:prstDash val="solid"/>
          </a:ln>
        </p:spPr>
      </p:sp>
      <p:sp>
        <p:nvSpPr>
          <p:cNvPr id="102" name="Shape 73"/>
          <p:cNvSpPr/>
          <p:nvPr/>
        </p:nvSpPr>
        <p:spPr>
          <a:xfrm>
            <a:off x="457200" y="6281928"/>
            <a:ext cx="292608" cy="292608"/>
          </a:xfrm>
          <a:prstGeom prst="ellipse">
            <a:avLst/>
          </a:prstGeom>
          <a:solidFill>
            <a:srgbClr val="0F1E5B"/>
          </a:solidFill>
          <a:ln/>
        </p:spPr>
      </p:sp>
      <p:pic>
        <p:nvPicPr>
          <p:cNvPr id="103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3037" y="6347765"/>
            <a:ext cx="160934" cy="160934"/>
          </a:xfrm>
          <a:prstGeom prst="rect">
            <a:avLst/>
          </a:prstGeom>
        </p:spPr>
      </p:pic>
      <p:sp>
        <p:nvSpPr>
          <p:cNvPr id="104" name="Text 74"/>
          <p:cNvSpPr/>
          <p:nvPr/>
        </p:nvSpPr>
        <p:spPr>
          <a:xfrm>
            <a:off x="841248" y="6199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Ask</a:t>
            </a:r>
            <a:endParaRPr lang="en-US" sz="1250" dirty="0"/>
          </a:p>
        </p:txBody>
      </p:sp>
      <p:sp>
        <p:nvSpPr>
          <p:cNvPr id="105" name="Shape 75"/>
          <p:cNvSpPr/>
          <p:nvPr/>
        </p:nvSpPr>
        <p:spPr>
          <a:xfrm>
            <a:off x="2331720" y="6291072"/>
            <a:ext cx="0" cy="274320"/>
          </a:xfrm>
          <a:prstGeom prst="line">
            <a:avLst/>
          </a:prstGeom>
          <a:noFill/>
          <a:ln w="12700">
            <a:solidFill>
              <a:srgbClr val="C9B976"/>
            </a:solidFill>
            <a:prstDash val="solid"/>
          </a:ln>
        </p:spPr>
      </p:sp>
      <p:sp>
        <p:nvSpPr>
          <p:cNvPr id="106" name="Text 76"/>
          <p:cNvSpPr/>
          <p:nvPr/>
        </p:nvSpPr>
        <p:spPr>
          <a:xfrm>
            <a:off x="2487168" y="61996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Rout / Chinmayee N to align with Roopali Revenkar &amp; Chris Armstrong on availability and scheduling of next workshops &amp; adoption roadmap.</a:t>
            </a:r>
            <a:endParaRPr lang="en-US" sz="950" dirty="0"/>
          </a:p>
        </p:txBody>
      </p:sp>
      <p:pic>
        <p:nvPicPr>
          <p:cNvPr id="107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430000" y="6291072"/>
            <a:ext cx="292608" cy="274320"/>
          </a:xfrm>
          <a:prstGeom prst="rect">
            <a:avLst/>
          </a:prstGeom>
        </p:spPr>
      </p:pic>
      <p:sp>
        <p:nvSpPr>
          <p:cNvPr id="108" name="Shape 77"/>
          <p:cNvSpPr/>
          <p:nvPr/>
        </p:nvSpPr>
        <p:spPr>
          <a:xfrm>
            <a:off x="457200" y="6693408"/>
            <a:ext cx="1828800" cy="0"/>
          </a:xfrm>
          <a:prstGeom prst="line">
            <a:avLst/>
          </a:prstGeom>
          <a:noFill/>
          <a:ln w="12700">
            <a:solidFill>
              <a:srgbClr val="0F1E5B"/>
            </a:solidFill>
            <a:prstDash val="solid"/>
          </a:ln>
        </p:spPr>
      </p:sp>
      <p:sp>
        <p:nvSpPr>
          <p:cNvPr id="109" name="Shape 78"/>
          <p:cNvSpPr/>
          <p:nvPr/>
        </p:nvSpPr>
        <p:spPr>
          <a:xfrm>
            <a:off x="9875520" y="6693408"/>
            <a:ext cx="1828800" cy="0"/>
          </a:xfrm>
          <a:prstGeom prst="line">
            <a:avLst/>
          </a:prstGeom>
          <a:noFill/>
          <a:ln w="12700">
            <a:solidFill>
              <a:srgbClr val="0F1E5B"/>
            </a:solidFill>
            <a:prstDash val="solid"/>
          </a:ln>
        </p:spPr>
      </p:sp>
      <p:sp>
        <p:nvSpPr>
          <p:cNvPr id="110" name="Shape 79"/>
          <p:cNvSpPr/>
          <p:nvPr/>
        </p:nvSpPr>
        <p:spPr>
          <a:xfrm>
            <a:off x="2377440" y="6583680"/>
            <a:ext cx="256032" cy="256032"/>
          </a:xfrm>
          <a:prstGeom prst="ellipse">
            <a:avLst/>
          </a:prstGeom>
          <a:solidFill>
            <a:srgbClr val="0F1E5B"/>
          </a:solidFill>
          <a:ln/>
        </p:spPr>
      </p:sp>
      <p:pic>
        <p:nvPicPr>
          <p:cNvPr id="111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35047" y="6641287"/>
            <a:ext cx="140818" cy="140818"/>
          </a:xfrm>
          <a:prstGeom prst="rect">
            <a:avLst/>
          </a:prstGeom>
        </p:spPr>
      </p:pic>
      <p:sp>
        <p:nvSpPr>
          <p:cNvPr id="112" name="Text 80"/>
          <p:cNvSpPr/>
          <p:nvPr/>
        </p:nvSpPr>
        <p:spPr>
          <a:xfrm>
            <a:off x="274320" y="6547104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let’s accelerate AI adoption and deliver greater value across Supply Chain MDM!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10896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8869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MDM – AI in SDLC  |  Workshop Update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051560" y="841248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AI-powered transformation across the SDLC for faster delivery and greater impact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0561320" y="237744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10881360" y="55778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0561320" y="237744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274320" y="1243584"/>
            <a:ext cx="6903720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60920" y="1243584"/>
            <a:ext cx="4526280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1243584"/>
            <a:ext cx="6903720" cy="457200"/>
          </a:xfrm>
          <a:prstGeom prst="roundRect">
            <a:avLst>
              <a:gd name="adj" fmla="val 14000"/>
            </a:avLst>
          </a:prstGeom>
          <a:solidFill>
            <a:srgbClr val="0F1E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4416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" y="1243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0512"/>
            <a:ext cx="210312" cy="210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" y="17465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end-to-end AI in SDLC demo aligned to plan (Requirements → Deployment)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286000"/>
            <a:ext cx="210312" cy="2103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22219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Showcased Rovo &amp; GitHub Copilot agents across BRD, LLD, Dev, Test, and Deployment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2761488"/>
            <a:ext cx="210312" cy="21031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944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BRD generation from meeting transcripts (Store Order Cycle use case)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3236976"/>
            <a:ext cx="210312" cy="21031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4944" y="31729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strong engagement from Product (Roopali Revenkar &amp; PO Team) and Engineering</a:t>
            </a:r>
            <a:endParaRPr lang="en-US" sz="900" dirty="0"/>
          </a:p>
        </p:txBody>
      </p:sp>
      <p:sp>
        <p:nvSpPr>
          <p:cNvPr id="21" name="Shape 12"/>
          <p:cNvSpPr/>
          <p:nvPr/>
        </p:nvSpPr>
        <p:spPr>
          <a:xfrm>
            <a:off x="3730752" y="1773936"/>
            <a:ext cx="3291840" cy="210312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3730752" y="182880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in SDLC Demo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3895344" y="2157984"/>
            <a:ext cx="365760" cy="36576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5811" y="2238451"/>
            <a:ext cx="204826" cy="20482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21608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620" dirty="0"/>
          </a:p>
        </p:txBody>
      </p:sp>
      <p:sp>
        <p:nvSpPr>
          <p:cNvPr id="26" name="Shape 16"/>
          <p:cNvSpPr/>
          <p:nvPr/>
        </p:nvSpPr>
        <p:spPr>
          <a:xfrm>
            <a:off x="4320540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27" name="Shape 17"/>
          <p:cNvSpPr/>
          <p:nvPr/>
        </p:nvSpPr>
        <p:spPr>
          <a:xfrm>
            <a:off x="4544568" y="2157984"/>
            <a:ext cx="365760" cy="365760"/>
          </a:xfrm>
          <a:prstGeom prst="ellipse">
            <a:avLst/>
          </a:prstGeom>
          <a:solidFill>
            <a:srgbClr val="E2F1F2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5035" y="2238451"/>
            <a:ext cx="204826" cy="20482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370832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620" dirty="0"/>
          </a:p>
        </p:txBody>
      </p:sp>
      <p:sp>
        <p:nvSpPr>
          <p:cNvPr id="30" name="Shape 19"/>
          <p:cNvSpPr/>
          <p:nvPr/>
        </p:nvSpPr>
        <p:spPr>
          <a:xfrm>
            <a:off x="4969764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31" name="Shape 20"/>
          <p:cNvSpPr/>
          <p:nvPr/>
        </p:nvSpPr>
        <p:spPr>
          <a:xfrm>
            <a:off x="5193792" y="2157984"/>
            <a:ext cx="365760" cy="36576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4259" y="2238451"/>
            <a:ext cx="204826" cy="20482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020056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620" dirty="0"/>
          </a:p>
        </p:txBody>
      </p:sp>
      <p:sp>
        <p:nvSpPr>
          <p:cNvPr id="34" name="Shape 22"/>
          <p:cNvSpPr/>
          <p:nvPr/>
        </p:nvSpPr>
        <p:spPr>
          <a:xfrm>
            <a:off x="5618988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35" name="Shape 23"/>
          <p:cNvSpPr/>
          <p:nvPr/>
        </p:nvSpPr>
        <p:spPr>
          <a:xfrm>
            <a:off x="5843016" y="2157984"/>
            <a:ext cx="365760" cy="365760"/>
          </a:xfrm>
          <a:prstGeom prst="ellipse">
            <a:avLst/>
          </a:prstGeom>
          <a:solidFill>
            <a:srgbClr val="EEEAF7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3483" y="2238451"/>
            <a:ext cx="204826" cy="204826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669280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620" dirty="0"/>
          </a:p>
        </p:txBody>
      </p:sp>
      <p:sp>
        <p:nvSpPr>
          <p:cNvPr id="38" name="Shape 25"/>
          <p:cNvSpPr/>
          <p:nvPr/>
        </p:nvSpPr>
        <p:spPr>
          <a:xfrm>
            <a:off x="6268212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39" name="Shape 26"/>
          <p:cNvSpPr/>
          <p:nvPr/>
        </p:nvSpPr>
        <p:spPr>
          <a:xfrm>
            <a:off x="6492240" y="2157984"/>
            <a:ext cx="365760" cy="365760"/>
          </a:xfrm>
          <a:prstGeom prst="ellipse">
            <a:avLst/>
          </a:prstGeom>
          <a:solidFill>
            <a:srgbClr val="E5F4E7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707" y="2238451"/>
            <a:ext cx="204826" cy="204826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318504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620" dirty="0"/>
          </a:p>
        </p:txBody>
      </p:sp>
      <p:sp>
        <p:nvSpPr>
          <p:cNvPr id="42" name="Shape 28"/>
          <p:cNvSpPr/>
          <p:nvPr/>
        </p:nvSpPr>
        <p:spPr>
          <a:xfrm>
            <a:off x="3913632" y="2926080"/>
            <a:ext cx="292608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43" name="Text 29"/>
          <p:cNvSpPr/>
          <p:nvPr/>
        </p:nvSpPr>
        <p:spPr>
          <a:xfrm>
            <a:off x="3730752" y="29626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Action</a:t>
            </a:r>
            <a:endParaRPr lang="en-US" sz="950" dirty="0"/>
          </a:p>
        </p:txBody>
      </p:sp>
      <p:sp>
        <p:nvSpPr>
          <p:cNvPr id="44" name="Shape 30"/>
          <p:cNvSpPr/>
          <p:nvPr/>
        </p:nvSpPr>
        <p:spPr>
          <a:xfrm rot="5400000">
            <a:off x="4114800" y="3218688"/>
            <a:ext cx="274320" cy="274320"/>
          </a:xfrm>
          <a:prstGeom prst="hexagon">
            <a:avLst/>
          </a:prstGeom>
          <a:solidFill>
            <a:srgbClr val="2E5FAE"/>
          </a:solidFill>
          <a:ln/>
        </p:spPr>
      </p:sp>
      <p:sp>
        <p:nvSpPr>
          <p:cNvPr id="45" name="Shape 31"/>
          <p:cNvSpPr/>
          <p:nvPr/>
        </p:nvSpPr>
        <p:spPr>
          <a:xfrm rot="5400000">
            <a:off x="4175150" y="3279038"/>
            <a:ext cx="153619" cy="153619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46" name="Text 32"/>
          <p:cNvSpPr/>
          <p:nvPr/>
        </p:nvSpPr>
        <p:spPr>
          <a:xfrm>
            <a:off x="4443984" y="3218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</a:t>
            </a:r>
            <a:endParaRPr lang="en-US" sz="1000" dirty="0"/>
          </a:p>
        </p:txBody>
      </p:sp>
      <p:sp>
        <p:nvSpPr>
          <p:cNvPr id="47" name="Text 33"/>
          <p:cNvSpPr/>
          <p:nvPr/>
        </p:nvSpPr>
        <p:spPr>
          <a:xfrm>
            <a:off x="3877056" y="35112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Knowledge Agent</a:t>
            </a:r>
            <a:endParaRPr lang="en-US" sz="65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0" y="3209544"/>
            <a:ext cx="292608" cy="292608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833872" y="3218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50" name="Text 35"/>
          <p:cNvSpPr/>
          <p:nvPr/>
        </p:nvSpPr>
        <p:spPr>
          <a:xfrm>
            <a:off x="5413248" y="3511296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Programmer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Automation Agent</a:t>
            </a:r>
            <a:endParaRPr lang="en-US" sz="650" dirty="0"/>
          </a:p>
        </p:txBody>
      </p:sp>
      <p:sp>
        <p:nvSpPr>
          <p:cNvPr id="51" name="Shape 36"/>
          <p:cNvSpPr/>
          <p:nvPr/>
        </p:nvSpPr>
        <p:spPr>
          <a:xfrm>
            <a:off x="7360920" y="1243584"/>
            <a:ext cx="4526280" cy="457200"/>
          </a:xfrm>
          <a:prstGeom prst="roundRect">
            <a:avLst>
              <a:gd name="adj" fmla="val 14000"/>
            </a:avLst>
          </a:prstGeom>
          <a:solidFill>
            <a:srgbClr val="0F1E5B"/>
          </a:solidFill>
          <a:ln/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2088" y="1353312"/>
            <a:ext cx="246888" cy="24688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7927848" y="1243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500" dirty="0"/>
          </a:p>
        </p:txBody>
      </p:sp>
      <p:sp>
        <p:nvSpPr>
          <p:cNvPr id="54" name="Shape 38"/>
          <p:cNvSpPr/>
          <p:nvPr/>
        </p:nvSpPr>
        <p:spPr>
          <a:xfrm>
            <a:off x="7507224" y="1810512"/>
            <a:ext cx="274320" cy="274320"/>
          </a:xfrm>
          <a:prstGeom prst="ellipse">
            <a:avLst/>
          </a:prstGeom>
          <a:solidFill>
            <a:srgbClr val="E2F1F2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67574" y="1870862"/>
            <a:ext cx="153619" cy="153619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7872984" y="17373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practical AI adoption across SDLC lifecycle</a:t>
            </a:r>
            <a:endParaRPr lang="en-US" sz="860" dirty="0"/>
          </a:p>
        </p:txBody>
      </p:sp>
      <p:sp>
        <p:nvSpPr>
          <p:cNvPr id="57" name="Text 40"/>
          <p:cNvSpPr/>
          <p:nvPr/>
        </p:nvSpPr>
        <p:spPr>
          <a:xfrm>
            <a:off x="7872984" y="192024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real-world value and feasibility.</a:t>
            </a:r>
            <a:endParaRPr lang="en-US" sz="740" dirty="0"/>
          </a:p>
        </p:txBody>
      </p:sp>
      <p:sp>
        <p:nvSpPr>
          <p:cNvPr id="58" name="Shape 41"/>
          <p:cNvSpPr/>
          <p:nvPr/>
        </p:nvSpPr>
        <p:spPr>
          <a:xfrm>
            <a:off x="7525512" y="2139696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59" name="Shape 42"/>
          <p:cNvSpPr/>
          <p:nvPr/>
        </p:nvSpPr>
        <p:spPr>
          <a:xfrm>
            <a:off x="7507224" y="2194560"/>
            <a:ext cx="274320" cy="274320"/>
          </a:xfrm>
          <a:prstGeom prst="ellipse">
            <a:avLst/>
          </a:prstGeom>
          <a:solidFill>
            <a:srgbClr val="E5F4E7"/>
          </a:solidFill>
          <a:ln/>
        </p:spPr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67574" y="2254910"/>
            <a:ext cx="153619" cy="153619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7872984" y="212140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requirements-to-deployment cycle via automation</a:t>
            </a:r>
            <a:endParaRPr lang="en-US" sz="860" dirty="0"/>
          </a:p>
        </p:txBody>
      </p:sp>
      <p:sp>
        <p:nvSpPr>
          <p:cNvPr id="62" name="Text 44"/>
          <p:cNvSpPr/>
          <p:nvPr/>
        </p:nvSpPr>
        <p:spPr>
          <a:xfrm>
            <a:off x="7872984" y="23042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cycle time.</a:t>
            </a:r>
            <a:endParaRPr lang="en-US" sz="740" dirty="0"/>
          </a:p>
        </p:txBody>
      </p:sp>
      <p:sp>
        <p:nvSpPr>
          <p:cNvPr id="63" name="Shape 45"/>
          <p:cNvSpPr/>
          <p:nvPr/>
        </p:nvSpPr>
        <p:spPr>
          <a:xfrm>
            <a:off x="7525512" y="2523744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64" name="Shape 46"/>
          <p:cNvSpPr/>
          <p:nvPr/>
        </p:nvSpPr>
        <p:spPr>
          <a:xfrm>
            <a:off x="7507224" y="2578608"/>
            <a:ext cx="274320" cy="274320"/>
          </a:xfrm>
          <a:prstGeom prst="ellipse">
            <a:avLst/>
          </a:prstGeom>
          <a:solidFill>
            <a:srgbClr val="EEEAF7"/>
          </a:solidFill>
          <a:ln/>
        </p:spPr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67574" y="2638958"/>
            <a:ext cx="153619" cy="153619"/>
          </a:xfrm>
          <a:prstGeom prst="rect">
            <a:avLst/>
          </a:prstGeom>
        </p:spPr>
      </p:pic>
      <p:sp>
        <p:nvSpPr>
          <p:cNvPr id="66" name="Text 47"/>
          <p:cNvSpPr/>
          <p:nvPr/>
        </p:nvSpPr>
        <p:spPr>
          <a:xfrm>
            <a:off x="7872984" y="25054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confidence for scaled adoption across Supply Chain domains</a:t>
            </a:r>
            <a:endParaRPr lang="en-US" sz="860" dirty="0"/>
          </a:p>
        </p:txBody>
      </p:sp>
      <p:sp>
        <p:nvSpPr>
          <p:cNvPr id="67" name="Text 48"/>
          <p:cNvSpPr/>
          <p:nvPr/>
        </p:nvSpPr>
        <p:spPr>
          <a:xfrm>
            <a:off x="7872984" y="268833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teams to adopt AI with trust and at scale.</a:t>
            </a:r>
            <a:endParaRPr lang="en-US" sz="740" dirty="0"/>
          </a:p>
        </p:txBody>
      </p:sp>
      <p:sp>
        <p:nvSpPr>
          <p:cNvPr id="68" name="Shape 49"/>
          <p:cNvSpPr/>
          <p:nvPr/>
        </p:nvSpPr>
        <p:spPr>
          <a:xfrm>
            <a:off x="7525512" y="2907792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69" name="Shape 50"/>
          <p:cNvSpPr/>
          <p:nvPr/>
        </p:nvSpPr>
        <p:spPr>
          <a:xfrm>
            <a:off x="7507224" y="2962656"/>
            <a:ext cx="274320" cy="27432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67574" y="3023006"/>
            <a:ext cx="153619" cy="153619"/>
          </a:xfrm>
          <a:prstGeom prst="rect">
            <a:avLst/>
          </a:prstGeom>
        </p:spPr>
      </p:pic>
      <p:sp>
        <p:nvSpPr>
          <p:cNvPr id="71" name="Text 51"/>
          <p:cNvSpPr/>
          <p:nvPr/>
        </p:nvSpPr>
        <p:spPr>
          <a:xfrm>
            <a:off x="7872984" y="28895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(30%)</a:t>
            </a:r>
            <a:endParaRPr lang="en-US" sz="860" dirty="0"/>
          </a:p>
        </p:txBody>
      </p:sp>
      <p:sp>
        <p:nvSpPr>
          <p:cNvPr id="72" name="Text 52"/>
          <p:cNvSpPr/>
          <p:nvPr/>
        </p:nvSpPr>
        <p:spPr>
          <a:xfrm>
            <a:off x="7872984" y="307238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automation reduces cycle time by up to 30%.</a:t>
            </a:r>
            <a:endParaRPr lang="en-US" sz="740" dirty="0"/>
          </a:p>
        </p:txBody>
      </p:sp>
      <p:sp>
        <p:nvSpPr>
          <p:cNvPr id="73" name="Shape 53"/>
          <p:cNvSpPr/>
          <p:nvPr/>
        </p:nvSpPr>
        <p:spPr>
          <a:xfrm>
            <a:off x="7525512" y="3291840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74" name="Shape 54"/>
          <p:cNvSpPr/>
          <p:nvPr/>
        </p:nvSpPr>
        <p:spPr>
          <a:xfrm>
            <a:off x="7507224" y="3346704"/>
            <a:ext cx="274320" cy="274320"/>
          </a:xfrm>
          <a:prstGeom prst="ellipse">
            <a:avLst/>
          </a:prstGeom>
          <a:solidFill>
            <a:srgbClr val="FCE9E1"/>
          </a:solidFill>
          <a:ln/>
        </p:spPr>
      </p:sp>
      <p:pic>
        <p:nvPicPr>
          <p:cNvPr id="75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67574" y="3407054"/>
            <a:ext cx="153619" cy="153619"/>
          </a:xfrm>
          <a:prstGeom prst="rect">
            <a:avLst/>
          </a:prstGeom>
        </p:spPr>
      </p:pic>
      <p:sp>
        <p:nvSpPr>
          <p:cNvPr id="76" name="Text 55"/>
          <p:cNvSpPr/>
          <p:nvPr/>
        </p:nvSpPr>
        <p:spPr>
          <a:xfrm>
            <a:off x="7872984" y="32735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and Standardization</a:t>
            </a:r>
            <a:endParaRPr lang="en-US" sz="860" dirty="0"/>
          </a:p>
        </p:txBody>
      </p:sp>
      <p:sp>
        <p:nvSpPr>
          <p:cNvPr id="77" name="Text 56"/>
          <p:cNvSpPr/>
          <p:nvPr/>
        </p:nvSpPr>
        <p:spPr>
          <a:xfrm>
            <a:off x="7872984" y="345643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uniform outputs through standard templates and governed processes.</a:t>
            </a:r>
            <a:endParaRPr lang="en-US" sz="740" dirty="0"/>
          </a:p>
        </p:txBody>
      </p:sp>
      <p:sp>
        <p:nvSpPr>
          <p:cNvPr id="78" name="Shape 57"/>
          <p:cNvSpPr/>
          <p:nvPr/>
        </p:nvSpPr>
        <p:spPr>
          <a:xfrm>
            <a:off x="274320" y="4142232"/>
            <a:ext cx="1161288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solid"/>
          </a:ln>
        </p:spPr>
      </p:sp>
      <p:sp>
        <p:nvSpPr>
          <p:cNvPr id="79" name="Shape 58"/>
          <p:cNvSpPr/>
          <p:nvPr/>
        </p:nvSpPr>
        <p:spPr>
          <a:xfrm>
            <a:off x="4069080" y="3950208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0F1E5B"/>
          </a:solidFill>
          <a:ln/>
        </p:spPr>
      </p:sp>
      <p:sp>
        <p:nvSpPr>
          <p:cNvPr id="80" name="Text 59"/>
          <p:cNvSpPr/>
          <p:nvPr/>
        </p:nvSpPr>
        <p:spPr>
          <a:xfrm>
            <a:off x="4069080" y="39502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Next Steps</a:t>
            </a:r>
            <a:endParaRPr lang="en-US" sz="1400" dirty="0"/>
          </a:p>
        </p:txBody>
      </p:sp>
      <p:sp>
        <p:nvSpPr>
          <p:cNvPr id="81" name="Shape 60"/>
          <p:cNvSpPr/>
          <p:nvPr/>
        </p:nvSpPr>
        <p:spPr>
          <a:xfrm>
            <a:off x="274320" y="449884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0F8F2"/>
          </a:solidFill>
          <a:ln w="12700">
            <a:solidFill>
              <a:srgbClr val="BFE3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82" name="Shape 61"/>
          <p:cNvSpPr/>
          <p:nvPr/>
        </p:nvSpPr>
        <p:spPr>
          <a:xfrm>
            <a:off x="420624" y="4626864"/>
            <a:ext cx="384048" cy="384048"/>
          </a:xfrm>
          <a:prstGeom prst="ellipse">
            <a:avLst/>
          </a:prstGeom>
          <a:solidFill>
            <a:srgbClr val="2E9E4B"/>
          </a:solidFill>
          <a:ln/>
        </p:spPr>
      </p:sp>
      <p:pic>
        <p:nvPicPr>
          <p:cNvPr id="83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7035" y="4713275"/>
            <a:ext cx="211226" cy="211226"/>
          </a:xfrm>
          <a:prstGeom prst="rect">
            <a:avLst/>
          </a:prstGeom>
        </p:spPr>
      </p:pic>
      <p:sp>
        <p:nvSpPr>
          <p:cNvPr id="84" name="Text 62"/>
          <p:cNvSpPr/>
          <p:nvPr/>
        </p:nvSpPr>
        <p:spPr>
          <a:xfrm>
            <a:off x="877824" y="4608576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Team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(Roopali Revenkar &amp; PO Team)</a:t>
            </a:r>
            <a:endParaRPr lang="en-US" sz="1150" dirty="0"/>
          </a:p>
        </p:txBody>
      </p:sp>
      <p:sp>
        <p:nvSpPr>
          <p:cNvPr id="85" name="Text 63"/>
          <p:cNvSpPr/>
          <p:nvPr/>
        </p:nvSpPr>
        <p:spPr>
          <a:xfrm>
            <a:off x="438912" y="5102352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use cases: BRD from process maps, legacy docs, emails, chats, Confluence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Elizabeth Rout &amp; Chinmayee N to run agent design sessions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BRD templates &amp; input/output standardisation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process maps in Miro</a:t>
            </a:r>
            <a:endParaRPr lang="en-US" sz="840" dirty="0"/>
          </a:p>
        </p:txBody>
      </p:sp>
      <p:pic>
        <p:nvPicPr>
          <p:cNvPr id="86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10712" y="5687568"/>
            <a:ext cx="384048" cy="310896"/>
          </a:xfrm>
          <a:prstGeom prst="rect">
            <a:avLst/>
          </a:prstGeom>
        </p:spPr>
      </p:pic>
      <p:sp>
        <p:nvSpPr>
          <p:cNvPr id="87" name="Shape 64"/>
          <p:cNvSpPr/>
          <p:nvPr/>
        </p:nvSpPr>
        <p:spPr>
          <a:xfrm>
            <a:off x="4160520" y="449884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EEF4FC"/>
          </a:solidFill>
          <a:ln w="12700">
            <a:solidFill>
              <a:srgbClr val="C2D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88" name="Shape 65"/>
          <p:cNvSpPr/>
          <p:nvPr/>
        </p:nvSpPr>
        <p:spPr>
          <a:xfrm>
            <a:off x="4306824" y="4626864"/>
            <a:ext cx="384048" cy="384048"/>
          </a:xfrm>
          <a:prstGeom prst="ellipse">
            <a:avLst/>
          </a:prstGeom>
          <a:solidFill>
            <a:srgbClr val="2E5FAE"/>
          </a:solidFill>
          <a:ln/>
        </p:spPr>
      </p:sp>
      <p:pic>
        <p:nvPicPr>
          <p:cNvPr id="89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93235" y="4713275"/>
            <a:ext cx="211226" cy="211226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4764024" y="4608576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Engineering Leadership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(Chris Armstrong)</a:t>
            </a:r>
            <a:endParaRPr lang="en-US" sz="1150" dirty="0"/>
          </a:p>
        </p:txBody>
      </p:sp>
      <p:sp>
        <p:nvSpPr>
          <p:cNvPr id="91" name="Text 67"/>
          <p:cNvSpPr/>
          <p:nvPr/>
        </p:nvSpPr>
        <p:spPr>
          <a:xfrm>
            <a:off x="4325112" y="5102352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phase-wise deep dive sessions (Req → Deploy)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TCS AI Team (external to MDM) to deliver end-to-end demos</a:t>
            </a:r>
            <a:endParaRPr lang="en-US" sz="840" dirty="0"/>
          </a:p>
        </p:txBody>
      </p:sp>
      <p:sp>
        <p:nvSpPr>
          <p:cNvPr id="92" name="Shape 68"/>
          <p:cNvSpPr/>
          <p:nvPr/>
        </p:nvSpPr>
        <p:spPr>
          <a:xfrm>
            <a:off x="8046720" y="4498848"/>
            <a:ext cx="3840480" cy="1572768"/>
          </a:xfrm>
          <a:prstGeom prst="roundRect">
            <a:avLst>
              <a:gd name="adj" fmla="val 4070"/>
            </a:avLst>
          </a:prstGeom>
          <a:solidFill>
            <a:srgbClr val="F2EFFA"/>
          </a:solidFill>
          <a:ln w="12700">
            <a:solidFill>
              <a:srgbClr val="D5CC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3" name="Shape 69"/>
          <p:cNvSpPr/>
          <p:nvPr/>
        </p:nvSpPr>
        <p:spPr>
          <a:xfrm>
            <a:off x="8193024" y="4626864"/>
            <a:ext cx="384048" cy="384048"/>
          </a:xfrm>
          <a:prstGeom prst="ellipse">
            <a:avLst/>
          </a:prstGeom>
          <a:solidFill>
            <a:srgbClr val="44309A"/>
          </a:solidFill>
          <a:ln/>
        </p:spPr>
      </p:sp>
      <p:pic>
        <p:nvPicPr>
          <p:cNvPr id="94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79435" y="4713275"/>
            <a:ext cx="211226" cy="211226"/>
          </a:xfrm>
          <a:prstGeom prst="rect">
            <a:avLst/>
          </a:prstGeom>
        </p:spPr>
      </p:pic>
      <p:sp>
        <p:nvSpPr>
          <p:cNvPr id="95" name="Text 70"/>
          <p:cNvSpPr/>
          <p:nvPr/>
        </p:nvSpPr>
        <p:spPr>
          <a:xfrm>
            <a:off x="8650224" y="4608576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Leadership Enablement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 &amp; HOEs)</a:t>
            </a:r>
            <a:endParaRPr lang="en-US" sz="1150" dirty="0"/>
          </a:p>
        </p:txBody>
      </p:sp>
      <p:sp>
        <p:nvSpPr>
          <p:cNvPr id="96" name="Text 71"/>
          <p:cNvSpPr/>
          <p:nvPr/>
        </p:nvSpPr>
        <p:spPr>
          <a:xfrm>
            <a:off x="8211312" y="5102352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demo sessions to build adoption confidence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training, guidelines, code quality, security checks &amp; productivity metrics</a:t>
            </a:r>
            <a:endParaRPr lang="en-US" sz="840" dirty="0"/>
          </a:p>
        </p:txBody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04704" y="5687568"/>
            <a:ext cx="274320" cy="274320"/>
          </a:xfrm>
          <a:prstGeom prst="rect">
            <a:avLst/>
          </a:prstGeom>
        </p:spPr>
      </p:pic>
      <p:pic>
        <p:nvPicPr>
          <p:cNvPr id="98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25328" y="5687568"/>
            <a:ext cx="274320" cy="274320"/>
          </a:xfrm>
          <a:prstGeom prst="rect">
            <a:avLst/>
          </a:prstGeom>
        </p:spPr>
      </p:pic>
      <p:pic>
        <p:nvPicPr>
          <p:cNvPr id="99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45952" y="5687568"/>
            <a:ext cx="274320" cy="274320"/>
          </a:xfrm>
          <a:prstGeom prst="rect">
            <a:avLst/>
          </a:prstGeom>
        </p:spPr>
      </p:pic>
      <p:pic>
        <p:nvPicPr>
          <p:cNvPr id="100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66576" y="5687568"/>
            <a:ext cx="274320" cy="274320"/>
          </a:xfrm>
          <a:prstGeom prst="rect">
            <a:avLst/>
          </a:prstGeom>
        </p:spPr>
      </p:pic>
      <p:sp>
        <p:nvSpPr>
          <p:cNvPr id="101" name="Shape 72"/>
          <p:cNvSpPr/>
          <p:nvPr/>
        </p:nvSpPr>
        <p:spPr>
          <a:xfrm>
            <a:off x="274320" y="6199632"/>
            <a:ext cx="11612880" cy="457200"/>
          </a:xfrm>
          <a:prstGeom prst="roundRect">
            <a:avLst>
              <a:gd name="adj" fmla="val 16000"/>
            </a:avLst>
          </a:prstGeom>
          <a:solidFill>
            <a:srgbClr val="FBF2D4"/>
          </a:solidFill>
          <a:ln w="12700">
            <a:solidFill>
              <a:srgbClr val="EAD79A"/>
            </a:solidFill>
            <a:prstDash val="solid"/>
          </a:ln>
        </p:spPr>
      </p:sp>
      <p:sp>
        <p:nvSpPr>
          <p:cNvPr id="102" name="Shape 73"/>
          <p:cNvSpPr/>
          <p:nvPr/>
        </p:nvSpPr>
        <p:spPr>
          <a:xfrm>
            <a:off x="457200" y="6281928"/>
            <a:ext cx="292608" cy="292608"/>
          </a:xfrm>
          <a:prstGeom prst="ellipse">
            <a:avLst/>
          </a:prstGeom>
          <a:solidFill>
            <a:srgbClr val="0F1E5B"/>
          </a:solidFill>
          <a:ln/>
        </p:spPr>
      </p:sp>
      <p:pic>
        <p:nvPicPr>
          <p:cNvPr id="103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3037" y="6347765"/>
            <a:ext cx="160934" cy="160934"/>
          </a:xfrm>
          <a:prstGeom prst="rect">
            <a:avLst/>
          </a:prstGeom>
        </p:spPr>
      </p:pic>
      <p:sp>
        <p:nvSpPr>
          <p:cNvPr id="104" name="Text 74"/>
          <p:cNvSpPr/>
          <p:nvPr/>
        </p:nvSpPr>
        <p:spPr>
          <a:xfrm>
            <a:off x="841248" y="6199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Ask</a:t>
            </a:r>
            <a:endParaRPr lang="en-US" sz="1250" dirty="0"/>
          </a:p>
        </p:txBody>
      </p:sp>
      <p:sp>
        <p:nvSpPr>
          <p:cNvPr id="105" name="Shape 75"/>
          <p:cNvSpPr/>
          <p:nvPr/>
        </p:nvSpPr>
        <p:spPr>
          <a:xfrm>
            <a:off x="2331720" y="6291072"/>
            <a:ext cx="0" cy="274320"/>
          </a:xfrm>
          <a:prstGeom prst="line">
            <a:avLst/>
          </a:prstGeom>
          <a:noFill/>
          <a:ln w="12700">
            <a:solidFill>
              <a:srgbClr val="C9B976"/>
            </a:solidFill>
            <a:prstDash val="solid"/>
          </a:ln>
        </p:spPr>
      </p:sp>
      <p:sp>
        <p:nvSpPr>
          <p:cNvPr id="106" name="Text 76"/>
          <p:cNvSpPr/>
          <p:nvPr/>
        </p:nvSpPr>
        <p:spPr>
          <a:xfrm>
            <a:off x="2487168" y="61996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Rout / Chinmayee N to align with Roopali Revenkar &amp; Chris Armstrong on availability and scheduling of next workshops &amp; adoption roadmap.</a:t>
            </a:r>
            <a:endParaRPr lang="en-US" sz="950" dirty="0"/>
          </a:p>
        </p:txBody>
      </p:sp>
      <p:pic>
        <p:nvPicPr>
          <p:cNvPr id="107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430000" y="6291072"/>
            <a:ext cx="292608" cy="274320"/>
          </a:xfrm>
          <a:prstGeom prst="rect">
            <a:avLst/>
          </a:prstGeom>
        </p:spPr>
      </p:pic>
      <p:sp>
        <p:nvSpPr>
          <p:cNvPr id="108" name="Shape 77"/>
          <p:cNvSpPr/>
          <p:nvPr/>
        </p:nvSpPr>
        <p:spPr>
          <a:xfrm>
            <a:off x="457200" y="6693408"/>
            <a:ext cx="1828800" cy="0"/>
          </a:xfrm>
          <a:prstGeom prst="line">
            <a:avLst/>
          </a:prstGeom>
          <a:noFill/>
          <a:ln w="12700">
            <a:solidFill>
              <a:srgbClr val="0F1E5B"/>
            </a:solidFill>
            <a:prstDash val="solid"/>
          </a:ln>
        </p:spPr>
      </p:sp>
      <p:sp>
        <p:nvSpPr>
          <p:cNvPr id="109" name="Shape 78"/>
          <p:cNvSpPr/>
          <p:nvPr/>
        </p:nvSpPr>
        <p:spPr>
          <a:xfrm>
            <a:off x="9875520" y="6693408"/>
            <a:ext cx="1828800" cy="0"/>
          </a:xfrm>
          <a:prstGeom prst="line">
            <a:avLst/>
          </a:prstGeom>
          <a:noFill/>
          <a:ln w="12700">
            <a:solidFill>
              <a:srgbClr val="0F1E5B"/>
            </a:solidFill>
            <a:prstDash val="solid"/>
          </a:ln>
        </p:spPr>
      </p:sp>
      <p:sp>
        <p:nvSpPr>
          <p:cNvPr id="110" name="Shape 79"/>
          <p:cNvSpPr/>
          <p:nvPr/>
        </p:nvSpPr>
        <p:spPr>
          <a:xfrm>
            <a:off x="2377440" y="6583680"/>
            <a:ext cx="256032" cy="256032"/>
          </a:xfrm>
          <a:prstGeom prst="ellipse">
            <a:avLst/>
          </a:prstGeom>
          <a:solidFill>
            <a:srgbClr val="0F1E5B"/>
          </a:solidFill>
          <a:ln/>
        </p:spPr>
      </p:sp>
      <p:pic>
        <p:nvPicPr>
          <p:cNvPr id="111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35047" y="6641287"/>
            <a:ext cx="140818" cy="140818"/>
          </a:xfrm>
          <a:prstGeom prst="rect">
            <a:avLst/>
          </a:prstGeom>
        </p:spPr>
      </p:pic>
      <p:sp>
        <p:nvSpPr>
          <p:cNvPr id="112" name="Text 80"/>
          <p:cNvSpPr/>
          <p:nvPr/>
        </p:nvSpPr>
        <p:spPr>
          <a:xfrm>
            <a:off x="274320" y="6547104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let’s accelerate AI adoption and deliver greater value across Supply Chain MDM!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SDLC - Supply Chain MDM</dc:title>
  <dc:subject>PptxGenJS Presentation</dc:subject>
  <dc:creator>AI in SDLC</dc:creator>
  <cp:lastModifiedBy>AI in SDLC</cp:lastModifiedBy>
  <cp:revision>1</cp:revision>
  <dcterms:created xsi:type="dcterms:W3CDTF">2026-06-17T19:24:35Z</dcterms:created>
  <dcterms:modified xsi:type="dcterms:W3CDTF">2026-06-17T19:24:35Z</dcterms:modified>
</cp:coreProperties>
</file>